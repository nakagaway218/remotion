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797675" cy="99266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6" autoAdjust="0"/>
    <p:restoredTop sz="94660"/>
  </p:normalViewPr>
  <p:slideViewPr>
    <p:cSldViewPr snapToGrid="0">
      <p:cViewPr varScale="1">
        <p:scale>
          <a:sx n="77" d="100"/>
          <a:sy n="77" d="100"/>
        </p:scale>
        <p:origin x="15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83421-03FE-4117-BD4D-FFF3E7F07C3B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09462-9662-4EBB-BC51-63916C0C3E9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A09462-9662-4EBB-BC51-63916C0C3E9D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4C-07B7-49A1-B06A-605A7C46FBE3}" type="datetimeFigureOut">
              <a:rPr kumimoji="1" lang="ja-JP" altLang="en-US" smtClean="0"/>
              <a:pPr/>
              <a:t>2024/5/17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70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10.png"/><Relationship Id="rId4" Type="http://schemas.openxmlformats.org/officeDocument/2006/relationships/image" Target="../media/image28.png"/><Relationship Id="rId9" Type="http://schemas.openxmlformats.org/officeDocument/2006/relationships/image" Target="../media/image3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2063527" y="1124744"/>
            <a:ext cx="4680520" cy="46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/>
          <p:cNvCxnSpPr/>
          <p:nvPr/>
        </p:nvCxnSpPr>
        <p:spPr>
          <a:xfrm>
            <a:off x="345815" y="3465004"/>
            <a:ext cx="864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 flipV="1">
            <a:off x="4403787" y="368660"/>
            <a:ext cx="0" cy="61206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6701755" y="338880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601662" y="3389244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935735" y="5769260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079751" y="72870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cxnSp>
        <p:nvCxnSpPr>
          <p:cNvPr id="27" name="直線コネクタ 26"/>
          <p:cNvCxnSpPr/>
          <p:nvPr/>
        </p:nvCxnSpPr>
        <p:spPr>
          <a:xfrm rot="1800000" flipV="1">
            <a:off x="2064538" y="3468848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/>
        </p:nvCxnSpPr>
        <p:spPr>
          <a:xfrm rot="9000000" flipV="1">
            <a:off x="2069300" y="3461446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/>
        </p:nvCxnSpPr>
        <p:spPr>
          <a:xfrm rot="3600000" flipV="1">
            <a:off x="2064706" y="3465755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 rot="7200000" flipV="1">
            <a:off x="2067371" y="3458327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 rot="2700000" flipV="1">
            <a:off x="2059906" y="3465033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 rot="8100000" flipV="1">
            <a:off x="2074192" y="3457891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6438900" y="1924050"/>
                <a:ext cx="2350323" cy="4223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/>
                  <a:t>π;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1924050"/>
                <a:ext cx="2350323" cy="422360"/>
              </a:xfrm>
              <a:prstGeom prst="rect">
                <a:avLst/>
              </a:prstGeom>
              <a:blipFill>
                <a:blip r:embed="rId3"/>
                <a:stretch>
                  <a:fillRect l="-1804" t="-9859" b="-112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/>
              <p:cNvSpPr txBox="1"/>
              <p:nvPr/>
            </p:nvSpPr>
            <p:spPr>
              <a:xfrm>
                <a:off x="4400550" y="628650"/>
                <a:ext cx="2363532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90°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無し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2" name="テキスト ボックス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550" y="628650"/>
                <a:ext cx="2363532" cy="396199"/>
              </a:xfrm>
              <a:prstGeom prst="rect">
                <a:avLst/>
              </a:prstGeom>
              <a:blipFill>
                <a:blip r:embed="rId4"/>
                <a:stretch>
                  <a:fillRect l="-2051" t="-10448" r="-1026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テキスト ボックス 42"/>
          <p:cNvSpPr txBox="1"/>
          <p:nvPr/>
        </p:nvSpPr>
        <p:spPr>
          <a:xfrm>
            <a:off x="6808305" y="3095625"/>
            <a:ext cx="20846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θ</a:t>
            </a:r>
            <a:r>
              <a:rPr lang="ja-JP" altLang="en-US" dirty="0"/>
              <a:t> </a:t>
            </a:r>
            <a:r>
              <a:rPr kumimoji="1" lang="en-US" altLang="ja-JP" dirty="0"/>
              <a:t>=</a:t>
            </a:r>
            <a:r>
              <a:rPr kumimoji="1" lang="ja-JP" altLang="en-US" dirty="0"/>
              <a:t> </a:t>
            </a:r>
            <a:r>
              <a:rPr kumimoji="1" lang="en-US" altLang="ja-JP" dirty="0"/>
              <a:t>0°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0; </a:t>
            </a:r>
            <a:r>
              <a:rPr kumimoji="1" lang="en-US" altLang="ja-JP" dirty="0" err="1"/>
              <a:t>tanθ</a:t>
            </a:r>
            <a:r>
              <a:rPr kumimoji="1" lang="en-US" altLang="ja-JP" dirty="0"/>
              <a:t>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/>
              <p:cNvSpPr txBox="1"/>
              <p:nvPr/>
            </p:nvSpPr>
            <p:spPr>
              <a:xfrm>
                <a:off x="5562600" y="1057275"/>
                <a:ext cx="2457404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60°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4" name="テキスト ボックス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057275"/>
                <a:ext cx="2457404" cy="397481"/>
              </a:xfrm>
              <a:prstGeom prst="rect">
                <a:avLst/>
              </a:prstGeom>
              <a:blipFill>
                <a:blip r:embed="rId5"/>
                <a:stretch>
                  <a:fillRect l="-1975" t="-8824" b="-161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/>
              <p:cNvSpPr txBox="1"/>
              <p:nvPr/>
            </p:nvSpPr>
            <p:spPr>
              <a:xfrm>
                <a:off x="6076950" y="1485900"/>
                <a:ext cx="2241704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45°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5" name="テキスト ボックス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950" y="1485900"/>
                <a:ext cx="2241704" cy="396199"/>
              </a:xfrm>
              <a:prstGeom prst="rect">
                <a:avLst/>
              </a:prstGeom>
              <a:blipFill>
                <a:blip r:embed="rId6"/>
                <a:stretch>
                  <a:fillRect l="-2162" t="-11940" r="-811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/>
              <p:cNvSpPr txBox="1"/>
              <p:nvPr/>
            </p:nvSpPr>
            <p:spPr>
              <a:xfrm>
                <a:off x="333375" y="1007994"/>
                <a:ext cx="2721899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120°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:r>
                  <a:rPr lang="ja-JP" altLang="en-US" dirty="0"/>
                  <a:t>ｰ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ja-JP" dirty="0"/>
                  <a:t> 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6" name="テキスト ボックス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1007994"/>
                <a:ext cx="2721899" cy="397481"/>
              </a:xfrm>
              <a:prstGeom prst="rect">
                <a:avLst/>
              </a:prstGeom>
              <a:blipFill>
                <a:blip r:embed="rId7"/>
                <a:stretch>
                  <a:fillRect l="-1786" t="-8824" b="-161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/>
              <p:cNvSpPr txBox="1"/>
              <p:nvPr/>
            </p:nvSpPr>
            <p:spPr>
              <a:xfrm>
                <a:off x="254782" y="1427922"/>
                <a:ext cx="2506199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135°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:r>
                  <a:rPr lang="en-US" altLang="ja-JP" dirty="0"/>
                  <a:t>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7" name="テキスト ボックス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82" y="1427922"/>
                <a:ext cx="2506199" cy="396199"/>
              </a:xfrm>
              <a:prstGeom prst="rect">
                <a:avLst/>
              </a:prstGeom>
              <a:blipFill>
                <a:blip r:embed="rId8"/>
                <a:stretch>
                  <a:fillRect l="-969" t="-10448" r="-1695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628649" y="1847850"/>
                <a:ext cx="1584553" cy="7277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150°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847850"/>
                <a:ext cx="1584553" cy="727763"/>
              </a:xfrm>
              <a:prstGeom prst="rect">
                <a:avLst/>
              </a:prstGeom>
              <a:blipFill>
                <a:blip r:embed="rId9"/>
                <a:stretch>
                  <a:fillRect l="-2672" t="-5738" r="-2290" b="-49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テキスト ボックス 48"/>
          <p:cNvSpPr txBox="1"/>
          <p:nvPr/>
        </p:nvSpPr>
        <p:spPr>
          <a:xfrm>
            <a:off x="470175" y="2818986"/>
            <a:ext cx="158565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θ</a:t>
            </a:r>
            <a:r>
              <a:rPr lang="ja-JP" altLang="en-US" dirty="0"/>
              <a:t> </a:t>
            </a:r>
            <a:r>
              <a:rPr kumimoji="1" lang="en-US" altLang="ja-JP" dirty="0"/>
              <a:t>=</a:t>
            </a:r>
            <a:r>
              <a:rPr kumimoji="1" lang="ja-JP" altLang="en-US" dirty="0"/>
              <a:t> </a:t>
            </a:r>
            <a:r>
              <a:rPr kumimoji="1" lang="en-US" altLang="ja-JP" dirty="0"/>
              <a:t>180°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π</a:t>
            </a:r>
            <a:r>
              <a:rPr lang="en-US" altLang="ja-JP" dirty="0"/>
              <a:t>; </a:t>
            </a:r>
            <a:r>
              <a:rPr lang="en-US" altLang="ja-JP" dirty="0" err="1"/>
              <a:t>tanθ</a:t>
            </a:r>
            <a:r>
              <a:rPr lang="en-US" altLang="ja-JP" dirty="0"/>
              <a:t> = 0</a:t>
            </a:r>
            <a:endParaRPr kumimoji="1" lang="en-US" altLang="ja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/>
              <p:cNvSpPr txBox="1"/>
              <p:nvPr/>
            </p:nvSpPr>
            <p:spPr>
              <a:xfrm>
                <a:off x="6457950" y="4399722"/>
                <a:ext cx="1962273" cy="6993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330°</a:t>
                </a:r>
                <a:r>
                  <a:rPr kumimoji="1" lang="ja-JP" altLang="en-US" dirty="0" err="1"/>
                  <a:t>、</a:t>
                </a:r>
                <a:r>
                  <a:rPr kumimoji="1" lang="en-US" altLang="ja-JP" dirty="0"/>
                  <a:t>11π/6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:r>
                  <a:rPr lang="ja-JP" altLang="en-US" dirty="0"/>
                  <a:t> </a:t>
                </a:r>
                <a:r>
                  <a:rPr lang="ja-JP" altLang="en-US" dirty="0" err="1"/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0" name="テキスト ボックス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4399722"/>
                <a:ext cx="1962273" cy="699359"/>
              </a:xfrm>
              <a:prstGeom prst="rect">
                <a:avLst/>
              </a:prstGeom>
              <a:blipFill>
                <a:blip r:embed="rId10"/>
                <a:stretch>
                  <a:fillRect l="-2160" t="-6897" r="-926" b="-68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/>
              <p:cNvSpPr txBox="1"/>
              <p:nvPr/>
            </p:nvSpPr>
            <p:spPr>
              <a:xfrm>
                <a:off x="6046719" y="5095875"/>
                <a:ext cx="2610395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315°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:r>
                  <a:rPr lang="en-US" altLang="ja-JP" dirty="0"/>
                  <a:t>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51" name="テキスト ボックス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719" y="5095875"/>
                <a:ext cx="2610395" cy="396199"/>
              </a:xfrm>
              <a:prstGeom prst="rect">
                <a:avLst/>
              </a:prstGeom>
              <a:blipFill>
                <a:blip r:embed="rId11"/>
                <a:stretch>
                  <a:fillRect l="-1860" t="-11940" r="-698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テキスト ボックス 51"/>
              <p:cNvSpPr txBox="1"/>
              <p:nvPr/>
            </p:nvSpPr>
            <p:spPr>
              <a:xfrm>
                <a:off x="5562600" y="5495925"/>
                <a:ext cx="2774799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300°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2" name="テキスト ボックス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5495925"/>
                <a:ext cx="2774799" cy="397481"/>
              </a:xfrm>
              <a:prstGeom prst="rect">
                <a:avLst/>
              </a:prstGeom>
              <a:blipFill>
                <a:blip r:embed="rId12"/>
                <a:stretch>
                  <a:fillRect l="-1751" t="-10448" b="-179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/>
              <p:cNvSpPr txBox="1"/>
              <p:nvPr/>
            </p:nvSpPr>
            <p:spPr>
              <a:xfrm>
                <a:off x="670476" y="4379844"/>
                <a:ext cx="1585655" cy="7277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210°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</a:p>
              <a:p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r>
                          <m:rPr>
                            <m:brk m:alnAt="63"/>
                          </m:rPr>
                          <a:rPr lang="ja-JP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3" name="テキスト ボックス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6" y="4379844"/>
                <a:ext cx="1585655" cy="727763"/>
              </a:xfrm>
              <a:prstGeom prst="rect">
                <a:avLst/>
              </a:prstGeom>
              <a:blipFill>
                <a:blip r:embed="rId13"/>
                <a:stretch>
                  <a:fillRect l="-3053" t="-5738" r="-5344" b="-40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/>
              <p:cNvSpPr txBox="1"/>
              <p:nvPr/>
            </p:nvSpPr>
            <p:spPr>
              <a:xfrm>
                <a:off x="273738" y="5105400"/>
                <a:ext cx="2464521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225°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54" name="テキスト ボックス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38" y="5105400"/>
                <a:ext cx="2464521" cy="396199"/>
              </a:xfrm>
              <a:prstGeom prst="rect">
                <a:avLst/>
              </a:prstGeom>
              <a:blipFill>
                <a:blip r:embed="rId14"/>
                <a:stretch>
                  <a:fillRect l="-1970" t="-12121" b="-16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/>
              <p:cNvSpPr txBox="1"/>
              <p:nvPr/>
            </p:nvSpPr>
            <p:spPr>
              <a:xfrm>
                <a:off x="615396" y="5514975"/>
                <a:ext cx="2627322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240°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5" name="テキスト ボックス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96" y="5514975"/>
                <a:ext cx="2627322" cy="397481"/>
              </a:xfrm>
              <a:prstGeom prst="rect">
                <a:avLst/>
              </a:prstGeom>
              <a:blipFill>
                <a:blip r:embed="rId15"/>
                <a:stretch>
                  <a:fillRect l="-1848" t="-10448" b="-179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テキスト ボックス 55"/>
              <p:cNvSpPr txBox="1"/>
              <p:nvPr/>
            </p:nvSpPr>
            <p:spPr>
              <a:xfrm>
                <a:off x="4400550" y="5895975"/>
                <a:ext cx="2586349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270°</a:t>
                </a:r>
                <a:r>
                  <a:rPr kumimoji="1" lang="ja-JP" altLang="en-US" dirty="0" err="1"/>
                  <a:t>、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無し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56" name="テキスト ボックス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550" y="5895975"/>
                <a:ext cx="2586349" cy="396199"/>
              </a:xfrm>
              <a:prstGeom prst="rect">
                <a:avLst/>
              </a:prstGeom>
              <a:blipFill>
                <a:blip r:embed="rId16"/>
                <a:stretch>
                  <a:fillRect l="-1878" t="-10448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テキスト ボックス 56"/>
          <p:cNvSpPr txBox="1"/>
          <p:nvPr/>
        </p:nvSpPr>
        <p:spPr>
          <a:xfrm>
            <a:off x="8448675" y="3362325"/>
            <a:ext cx="757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cosθ</a:t>
            </a:r>
            <a:endParaRPr kumimoji="1" lang="ja-JP" altLang="en-US" sz="2400" dirty="0"/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3743325" y="190500"/>
            <a:ext cx="700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sinθ</a:t>
            </a:r>
            <a:endParaRPr kumimoji="1" lang="ja-JP" altLang="en-US" sz="2400" dirty="0"/>
          </a:p>
        </p:txBody>
      </p:sp>
      <p:cxnSp>
        <p:nvCxnSpPr>
          <p:cNvPr id="60" name="直線コネクタ 59"/>
          <p:cNvCxnSpPr/>
          <p:nvPr/>
        </p:nvCxnSpPr>
        <p:spPr>
          <a:xfrm>
            <a:off x="6415089" y="2293144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>
            <a:off x="6043613" y="1819275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/>
          <p:cNvCxnSpPr/>
          <p:nvPr/>
        </p:nvCxnSpPr>
        <p:spPr>
          <a:xfrm>
            <a:off x="2376490" y="2300286"/>
            <a:ext cx="0" cy="23455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/>
        </p:nvCxnSpPr>
        <p:spPr>
          <a:xfrm>
            <a:off x="2747963" y="1828800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/>
          <p:cNvCxnSpPr/>
          <p:nvPr/>
        </p:nvCxnSpPr>
        <p:spPr>
          <a:xfrm>
            <a:off x="3238500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/>
          <p:cNvCxnSpPr/>
          <p:nvPr/>
        </p:nvCxnSpPr>
        <p:spPr>
          <a:xfrm>
            <a:off x="5572125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/>
          <p:cNvCxnSpPr/>
          <p:nvPr/>
        </p:nvCxnSpPr>
        <p:spPr>
          <a:xfrm rot="5400000">
            <a:off x="4405314" y="4302920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/>
          <p:cNvCxnSpPr/>
          <p:nvPr/>
        </p:nvCxnSpPr>
        <p:spPr>
          <a:xfrm rot="5400000">
            <a:off x="4395789" y="254799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rot="16200000">
            <a:off x="4395788" y="171450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/>
          <p:cNvCxnSpPr/>
          <p:nvPr/>
        </p:nvCxnSpPr>
        <p:spPr>
          <a:xfrm rot="16200000">
            <a:off x="4405313" y="3467100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/>
          <p:cNvCxnSpPr/>
          <p:nvPr/>
        </p:nvCxnSpPr>
        <p:spPr>
          <a:xfrm rot="16200000">
            <a:off x="4391025" y="2857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/>
          <p:cNvCxnSpPr/>
          <p:nvPr/>
        </p:nvCxnSpPr>
        <p:spPr>
          <a:xfrm rot="16200000">
            <a:off x="4400550" y="26098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角丸四角形 78"/>
              <p:cNvSpPr/>
              <p:nvPr/>
            </p:nvSpPr>
            <p:spPr>
              <a:xfrm>
                <a:off x="4096163" y="2176044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角丸四角形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163" y="2176044"/>
                <a:ext cx="600077" cy="392962"/>
              </a:xfrm>
              <a:prstGeom prst="roundRect">
                <a:avLst/>
              </a:prstGeom>
              <a:blipFill>
                <a:blip r:embed="rId17"/>
                <a:stretch>
                  <a:fillRect b="-29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角丸四角形 85"/>
              <p:cNvSpPr/>
              <p:nvPr/>
            </p:nvSpPr>
            <p:spPr>
              <a:xfrm>
                <a:off x="4076782" y="1666876"/>
                <a:ext cx="619458" cy="43480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en-US" altLang="ja-JP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角丸四角形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82" y="1666876"/>
                <a:ext cx="619458" cy="434805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角丸四角形 88"/>
              <p:cNvSpPr/>
              <p:nvPr/>
            </p:nvSpPr>
            <p:spPr>
              <a:xfrm>
                <a:off x="4067174" y="1193203"/>
                <a:ext cx="619457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角丸四角形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174" y="1193203"/>
                <a:ext cx="619457" cy="436427"/>
              </a:xfrm>
              <a:prstGeom prst="roundRect">
                <a:avLst/>
              </a:prstGeom>
              <a:blipFill>
                <a:blip r:embed="rId19"/>
                <a:stretch>
                  <a:fillRect b="-405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テキスト ボックス 92"/>
          <p:cNvSpPr txBox="1"/>
          <p:nvPr/>
        </p:nvSpPr>
        <p:spPr>
          <a:xfrm>
            <a:off x="-9525" y="1905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三角比一覧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6962775" y="3467100"/>
            <a:ext cx="1457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/>
              <a:t>θ</a:t>
            </a:r>
            <a:r>
              <a:rPr lang="ja-JP" altLang="en-US" dirty="0"/>
              <a:t> </a:t>
            </a:r>
            <a:r>
              <a:rPr kumimoji="1" lang="en-US" altLang="ja-JP" dirty="0"/>
              <a:t>=360°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2π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角丸四角形 88">
                <a:extLst>
                  <a:ext uri="{FF2B5EF4-FFF2-40B4-BE49-F238E27FC236}">
                    <a16:creationId xmlns:a16="http://schemas.microsoft.com/office/drawing/2014/main" id="{9E1E6BDA-7F14-479D-B2F4-A54DAEE67974}"/>
                  </a:ext>
                </a:extLst>
              </p:cNvPr>
              <p:cNvSpPr/>
              <p:nvPr/>
            </p:nvSpPr>
            <p:spPr>
              <a:xfrm>
                <a:off x="6107283" y="2776967"/>
                <a:ext cx="619457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角丸四角形 88">
                <a:extLst>
                  <a:ext uri="{FF2B5EF4-FFF2-40B4-BE49-F238E27FC236}">
                    <a16:creationId xmlns:a16="http://schemas.microsoft.com/office/drawing/2014/main" id="{9E1E6BDA-7F14-479D-B2F4-A54DAEE679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283" y="2776967"/>
                <a:ext cx="619457" cy="436427"/>
              </a:xfrm>
              <a:prstGeom prst="roundRect">
                <a:avLst/>
              </a:prstGeom>
              <a:blipFill>
                <a:blip r:embed="rId20"/>
                <a:stretch>
                  <a:fillRect b="-405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角丸四角形 85">
                <a:extLst>
                  <a:ext uri="{FF2B5EF4-FFF2-40B4-BE49-F238E27FC236}">
                    <a16:creationId xmlns:a16="http://schemas.microsoft.com/office/drawing/2014/main" id="{6E589B72-7FA8-4AE4-81DB-F5E60265EB9D}"/>
                  </a:ext>
                </a:extLst>
              </p:cNvPr>
              <p:cNvSpPr/>
              <p:nvPr/>
            </p:nvSpPr>
            <p:spPr>
              <a:xfrm>
                <a:off x="5751718" y="3539585"/>
                <a:ext cx="619458" cy="43480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en-US" altLang="ja-JP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角丸四角形 85">
                <a:extLst>
                  <a:ext uri="{FF2B5EF4-FFF2-40B4-BE49-F238E27FC236}">
                    <a16:creationId xmlns:a16="http://schemas.microsoft.com/office/drawing/2014/main" id="{6E589B72-7FA8-4AE4-81DB-F5E60265EB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718" y="3539585"/>
                <a:ext cx="619458" cy="434805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角丸四角形 78">
                <a:extLst>
                  <a:ext uri="{FF2B5EF4-FFF2-40B4-BE49-F238E27FC236}">
                    <a16:creationId xmlns:a16="http://schemas.microsoft.com/office/drawing/2014/main" id="{17DF9E45-5481-4DCA-842D-F77DC83F0BE9}"/>
                  </a:ext>
                </a:extLst>
              </p:cNvPr>
              <p:cNvSpPr/>
              <p:nvPr/>
            </p:nvSpPr>
            <p:spPr>
              <a:xfrm>
                <a:off x="5282253" y="2985227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角丸四角形 78">
                <a:extLst>
                  <a:ext uri="{FF2B5EF4-FFF2-40B4-BE49-F238E27FC236}">
                    <a16:creationId xmlns:a16="http://schemas.microsoft.com/office/drawing/2014/main" id="{17DF9E45-5481-4DCA-842D-F77DC83F0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253" y="2985227"/>
                <a:ext cx="600077" cy="392962"/>
              </a:xfrm>
              <a:prstGeom prst="roundRect">
                <a:avLst/>
              </a:prstGeom>
              <a:blipFill>
                <a:blip r:embed="rId22"/>
                <a:stretch>
                  <a:fillRect b="-29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角丸四角形 78">
                <a:extLst>
                  <a:ext uri="{FF2B5EF4-FFF2-40B4-BE49-F238E27FC236}">
                    <a16:creationId xmlns:a16="http://schemas.microsoft.com/office/drawing/2014/main" id="{1D8112B3-A3C5-4515-BFFB-113288CA08FF}"/>
                  </a:ext>
                </a:extLst>
              </p:cNvPr>
              <p:cNvSpPr/>
              <p:nvPr/>
            </p:nvSpPr>
            <p:spPr>
              <a:xfrm>
                <a:off x="2966421" y="3462483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角丸四角形 78">
                <a:extLst>
                  <a:ext uri="{FF2B5EF4-FFF2-40B4-BE49-F238E27FC236}">
                    <a16:creationId xmlns:a16="http://schemas.microsoft.com/office/drawing/2014/main" id="{1D8112B3-A3C5-4515-BFFB-113288CA08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421" y="3462483"/>
                <a:ext cx="600077" cy="392962"/>
              </a:xfrm>
              <a:prstGeom prst="roundRect">
                <a:avLst/>
              </a:prstGeom>
              <a:blipFill>
                <a:blip r:embed="rId23"/>
                <a:stretch>
                  <a:fillRect t="-10448" b="-1044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角丸四角形 85">
                <a:extLst>
                  <a:ext uri="{FF2B5EF4-FFF2-40B4-BE49-F238E27FC236}">
                    <a16:creationId xmlns:a16="http://schemas.microsoft.com/office/drawing/2014/main" id="{6674F00D-0C2A-47C7-86CB-FAF9B3C986AD}"/>
                  </a:ext>
                </a:extLst>
              </p:cNvPr>
              <p:cNvSpPr/>
              <p:nvPr/>
            </p:nvSpPr>
            <p:spPr>
              <a:xfrm>
                <a:off x="2469892" y="2810114"/>
                <a:ext cx="619458" cy="53847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角丸四角形 85">
                <a:extLst>
                  <a:ext uri="{FF2B5EF4-FFF2-40B4-BE49-F238E27FC236}">
                    <a16:creationId xmlns:a16="http://schemas.microsoft.com/office/drawing/2014/main" id="{6674F00D-0C2A-47C7-86CB-FAF9B3C98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892" y="2810114"/>
                <a:ext cx="619458" cy="538474"/>
              </a:xfrm>
              <a:prstGeom prst="roundRect">
                <a:avLst/>
              </a:prstGeom>
              <a:blipFill>
                <a:blip r:embed="rId2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角丸四角形 88">
                <a:extLst>
                  <a:ext uri="{FF2B5EF4-FFF2-40B4-BE49-F238E27FC236}">
                    <a16:creationId xmlns:a16="http://schemas.microsoft.com/office/drawing/2014/main" id="{3668E23C-1FFA-4B0B-9DDC-58A72778DAF7}"/>
                  </a:ext>
                </a:extLst>
              </p:cNvPr>
              <p:cNvSpPr/>
              <p:nvPr/>
            </p:nvSpPr>
            <p:spPr>
              <a:xfrm>
                <a:off x="2050095" y="3502566"/>
                <a:ext cx="631961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r>
                            <m:rPr>
                              <m:nor/>
                            </m:rPr>
                            <a:rPr lang="ja-JP" altLang="en-US" dirty="0">
                              <a:solidFill>
                                <a:schemeClr val="tx1"/>
                              </a:solidFill>
                            </a:rPr>
                            <m:t>ｰ</m:t>
                          </m: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角丸四角形 88">
                <a:extLst>
                  <a:ext uri="{FF2B5EF4-FFF2-40B4-BE49-F238E27FC236}">
                    <a16:creationId xmlns:a16="http://schemas.microsoft.com/office/drawing/2014/main" id="{3668E23C-1FFA-4B0B-9DDC-58A72778DA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095" y="3502566"/>
                <a:ext cx="631961" cy="436427"/>
              </a:xfrm>
              <a:prstGeom prst="roundRect">
                <a:avLst/>
              </a:prstGeom>
              <a:blipFill>
                <a:blip r:embed="rId25"/>
                <a:stretch>
                  <a:fillRect b="-405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角丸四角形 78">
                <a:extLst>
                  <a:ext uri="{FF2B5EF4-FFF2-40B4-BE49-F238E27FC236}">
                    <a16:creationId xmlns:a16="http://schemas.microsoft.com/office/drawing/2014/main" id="{BD5AEDA3-44AC-4759-9F44-149676123A29}"/>
                  </a:ext>
                </a:extLst>
              </p:cNvPr>
              <p:cNvSpPr/>
              <p:nvPr/>
            </p:nvSpPr>
            <p:spPr>
              <a:xfrm>
                <a:off x="4099810" y="4359999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角丸四角形 78">
                <a:extLst>
                  <a:ext uri="{FF2B5EF4-FFF2-40B4-BE49-F238E27FC236}">
                    <a16:creationId xmlns:a16="http://schemas.microsoft.com/office/drawing/2014/main" id="{BD5AEDA3-44AC-4759-9F44-149676123A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810" y="4359999"/>
                <a:ext cx="600077" cy="392962"/>
              </a:xfrm>
              <a:prstGeom prst="roundRect">
                <a:avLst/>
              </a:prstGeom>
              <a:blipFill>
                <a:blip r:embed="rId26"/>
                <a:stretch>
                  <a:fillRect t="-10294" b="-88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角丸四角形 85">
                <a:extLst>
                  <a:ext uri="{FF2B5EF4-FFF2-40B4-BE49-F238E27FC236}">
                    <a16:creationId xmlns:a16="http://schemas.microsoft.com/office/drawing/2014/main" id="{BA1FBF25-C518-4E7D-8726-9C8872E7442B}"/>
                  </a:ext>
                </a:extLst>
              </p:cNvPr>
              <p:cNvSpPr/>
              <p:nvPr/>
            </p:nvSpPr>
            <p:spPr>
              <a:xfrm>
                <a:off x="4093741" y="4781880"/>
                <a:ext cx="619458" cy="53847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角丸四角形 85">
                <a:extLst>
                  <a:ext uri="{FF2B5EF4-FFF2-40B4-BE49-F238E27FC236}">
                    <a16:creationId xmlns:a16="http://schemas.microsoft.com/office/drawing/2014/main" id="{BA1FBF25-C518-4E7D-8726-9C8872E744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741" y="4781880"/>
                <a:ext cx="619458" cy="538474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角丸四角形 88">
                <a:extLst>
                  <a:ext uri="{FF2B5EF4-FFF2-40B4-BE49-F238E27FC236}">
                    <a16:creationId xmlns:a16="http://schemas.microsoft.com/office/drawing/2014/main" id="{3514BB42-E970-444F-B8BF-A3474DFA88CC}"/>
                  </a:ext>
                </a:extLst>
              </p:cNvPr>
              <p:cNvSpPr/>
              <p:nvPr/>
            </p:nvSpPr>
            <p:spPr>
              <a:xfrm>
                <a:off x="4083601" y="5334082"/>
                <a:ext cx="631563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r>
                            <m:rPr>
                              <m:nor/>
                            </m:rPr>
                            <a:rPr lang="ja-JP" altLang="en-US" dirty="0">
                              <a:solidFill>
                                <a:schemeClr val="tx1"/>
                              </a:solidFill>
                            </a:rPr>
                            <m:t>ｰ</m:t>
                          </m: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角丸四角形 88">
                <a:extLst>
                  <a:ext uri="{FF2B5EF4-FFF2-40B4-BE49-F238E27FC236}">
                    <a16:creationId xmlns:a16="http://schemas.microsoft.com/office/drawing/2014/main" id="{3514BB42-E970-444F-B8BF-A3474DFA8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601" y="5334082"/>
                <a:ext cx="631563" cy="436427"/>
              </a:xfrm>
              <a:prstGeom prst="roundRect">
                <a:avLst/>
              </a:prstGeom>
              <a:blipFill>
                <a:blip r:embed="rId28"/>
                <a:stretch>
                  <a:fillRect b="-266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2301652" y="1124744"/>
            <a:ext cx="4680520" cy="46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矢印コネクタ 4"/>
          <p:cNvCxnSpPr/>
          <p:nvPr/>
        </p:nvCxnSpPr>
        <p:spPr>
          <a:xfrm>
            <a:off x="317240" y="3465004"/>
            <a:ext cx="864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/>
          <p:cNvCxnSpPr/>
          <p:nvPr/>
        </p:nvCxnSpPr>
        <p:spPr>
          <a:xfrm flipV="1">
            <a:off x="4641912" y="368660"/>
            <a:ext cx="0" cy="61206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6939880" y="338880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869604" y="3429000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173860" y="5769260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17876" y="72870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cxnSp>
        <p:nvCxnSpPr>
          <p:cNvPr id="11" name="直線コネクタ 10"/>
          <p:cNvCxnSpPr/>
          <p:nvPr/>
        </p:nvCxnSpPr>
        <p:spPr>
          <a:xfrm rot="1800000" flipV="1">
            <a:off x="2302663" y="3468848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 rot="9000000" flipV="1">
            <a:off x="2307425" y="3461446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 rot="3600000" flipV="1">
            <a:off x="2302831" y="3465755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 rot="7200000" flipV="1">
            <a:off x="2305496" y="3458327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8420100" y="3362325"/>
            <a:ext cx="594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cos</a:t>
            </a:r>
            <a:endParaRPr kumimoji="1" lang="ja-JP" altLang="en-US" sz="2400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4181475" y="323850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sin</a:t>
            </a:r>
            <a:endParaRPr kumimoji="1" lang="ja-JP" altLang="en-US" sz="2400" dirty="0"/>
          </a:p>
        </p:txBody>
      </p:sp>
      <p:cxnSp>
        <p:nvCxnSpPr>
          <p:cNvPr id="35" name="直線コネクタ 34"/>
          <p:cNvCxnSpPr/>
          <p:nvPr/>
        </p:nvCxnSpPr>
        <p:spPr>
          <a:xfrm>
            <a:off x="6653214" y="2293144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/>
          <p:cNvCxnSpPr/>
          <p:nvPr/>
        </p:nvCxnSpPr>
        <p:spPr>
          <a:xfrm>
            <a:off x="2614615" y="2300286"/>
            <a:ext cx="0" cy="23455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>
            <a:off x="3476625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>
            <a:off x="5810250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/>
          <p:nvPr/>
        </p:nvCxnSpPr>
        <p:spPr>
          <a:xfrm rot="5400000">
            <a:off x="4643439" y="4302920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 rot="5400000">
            <a:off x="4633914" y="254799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/>
          <p:nvPr/>
        </p:nvCxnSpPr>
        <p:spPr>
          <a:xfrm rot="16200000">
            <a:off x="4629150" y="2857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 rot="16200000">
            <a:off x="4638675" y="26098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/>
          <p:cNvSpPr txBox="1"/>
          <p:nvPr/>
        </p:nvSpPr>
        <p:spPr>
          <a:xfrm>
            <a:off x="228600" y="1905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三角比変換</a:t>
            </a: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905375" y="319087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θ</a:t>
            </a:r>
            <a:endParaRPr kumimoji="1" lang="ja-JP" altLang="en-US" dirty="0"/>
          </a:p>
        </p:txBody>
      </p:sp>
      <p:sp>
        <p:nvSpPr>
          <p:cNvPr id="64" name="円弧 63"/>
          <p:cNvSpPr/>
          <p:nvPr/>
        </p:nvSpPr>
        <p:spPr>
          <a:xfrm>
            <a:off x="4800600" y="3333750"/>
            <a:ext cx="123825" cy="257175"/>
          </a:xfrm>
          <a:prstGeom prst="arc">
            <a:avLst/>
          </a:prstGeom>
          <a:ln w="1905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左矢印 64"/>
              <p:cNvSpPr/>
              <p:nvPr/>
            </p:nvSpPr>
            <p:spPr>
              <a:xfrm>
                <a:off x="6686550" y="1933576"/>
                <a:ext cx="2270687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5" name="左矢印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550" y="1933576"/>
                <a:ext cx="2270687" cy="704850"/>
              </a:xfrm>
              <a:prstGeom prst="leftArrow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左矢印 65"/>
              <p:cNvSpPr/>
              <p:nvPr/>
            </p:nvSpPr>
            <p:spPr>
              <a:xfrm>
                <a:off x="5838823" y="1085851"/>
                <a:ext cx="2752727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>
                    <a:solidFill>
                      <a:schemeClr val="tx1"/>
                    </a:solidFill>
                  </a:rPr>
                  <a:t>π-θ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左矢印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823" y="1085851"/>
                <a:ext cx="2752727" cy="704850"/>
              </a:xfrm>
              <a:prstGeom prst="leftArrow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右矢印 67"/>
              <p:cNvSpPr/>
              <p:nvPr/>
            </p:nvSpPr>
            <p:spPr>
              <a:xfrm>
                <a:off x="523875" y="1104900"/>
                <a:ext cx="2924177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π+θ,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右矢印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75" y="1104900"/>
                <a:ext cx="2924177" cy="704850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右矢印 68"/>
              <p:cNvSpPr/>
              <p:nvPr/>
            </p:nvSpPr>
            <p:spPr>
              <a:xfrm>
                <a:off x="0" y="1943100"/>
                <a:ext cx="2619377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π-θ,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9" name="右矢印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43100"/>
                <a:ext cx="2619377" cy="704850"/>
              </a:xfrm>
              <a:prstGeom prst="rightArrow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左矢印 69"/>
              <p:cNvSpPr/>
              <p:nvPr/>
            </p:nvSpPr>
            <p:spPr>
              <a:xfrm>
                <a:off x="6677026" y="4295776"/>
                <a:ext cx="2447922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-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" name="左矢印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026" y="4295776"/>
                <a:ext cx="2447922" cy="704850"/>
              </a:xfrm>
              <a:prstGeom prst="leftArrow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右矢印 70"/>
              <p:cNvSpPr/>
              <p:nvPr/>
            </p:nvSpPr>
            <p:spPr>
              <a:xfrm>
                <a:off x="114301" y="4295775"/>
                <a:ext cx="2495552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dirty="0" err="1">
                    <a:solidFill>
                      <a:schemeClr val="tx1"/>
                    </a:solidFill>
                  </a:rPr>
                  <a:t>π+θ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1" name="右矢印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1" y="4295775"/>
                <a:ext cx="2495552" cy="704850"/>
              </a:xfrm>
              <a:prstGeom prst="rightArrow">
                <a:avLst/>
              </a:prstGeom>
              <a:blipFill>
                <a:blip r:embed="rId7"/>
                <a:stretch>
                  <a:fillRect l="-72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右矢印 71"/>
              <p:cNvSpPr/>
              <p:nvPr/>
            </p:nvSpPr>
            <p:spPr>
              <a:xfrm>
                <a:off x="533400" y="5143500"/>
                <a:ext cx="2924177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π-θ,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右矢印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143500"/>
                <a:ext cx="2924177" cy="704850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左矢印 72"/>
              <p:cNvSpPr/>
              <p:nvPr/>
            </p:nvSpPr>
            <p:spPr>
              <a:xfrm>
                <a:off x="5829295" y="5143501"/>
                <a:ext cx="3057529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>
                    <a:solidFill>
                      <a:schemeClr val="tx1"/>
                    </a:solidFill>
                  </a:rPr>
                  <a:t>π+θ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左矢印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95" y="5143501"/>
                <a:ext cx="3057529" cy="704850"/>
              </a:xfrm>
              <a:prstGeom prst="leftArrow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テキスト ボックス 73"/>
          <p:cNvSpPr txBox="1"/>
          <p:nvPr/>
        </p:nvSpPr>
        <p:spPr>
          <a:xfrm>
            <a:off x="7105650" y="474345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（</a:t>
            </a:r>
            <a:r>
              <a:rPr kumimoji="1" lang="en-US" altLang="ja-JP" dirty="0"/>
              <a:t>2π-θ</a:t>
            </a:r>
            <a:r>
              <a:rPr kumimoji="1" lang="ja-JP" altLang="en-US" dirty="0"/>
              <a:t>）</a:t>
            </a:r>
          </a:p>
        </p:txBody>
      </p:sp>
      <p:sp>
        <p:nvSpPr>
          <p:cNvPr id="75" name="正方形/長方形 74"/>
          <p:cNvSpPr/>
          <p:nvPr/>
        </p:nvSpPr>
        <p:spPr>
          <a:xfrm>
            <a:off x="6276975" y="3200400"/>
            <a:ext cx="657225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6" name="角丸四角形 75"/>
          <p:cNvSpPr/>
          <p:nvPr/>
        </p:nvSpPr>
        <p:spPr>
          <a:xfrm>
            <a:off x="895350" y="523874"/>
            <a:ext cx="638175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0" name="正方形/長方形 79"/>
          <p:cNvSpPr/>
          <p:nvPr/>
        </p:nvSpPr>
        <p:spPr>
          <a:xfrm>
            <a:off x="2371725" y="3200400"/>
            <a:ext cx="685800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3" name="正方形/長方形 82"/>
          <p:cNvSpPr/>
          <p:nvPr/>
        </p:nvSpPr>
        <p:spPr>
          <a:xfrm>
            <a:off x="1714500" y="523875"/>
            <a:ext cx="657225" cy="238125"/>
          </a:xfrm>
          <a:prstGeom prst="rect">
            <a:avLst/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6" name="角丸四角形 85"/>
          <p:cNvSpPr/>
          <p:nvPr/>
        </p:nvSpPr>
        <p:spPr>
          <a:xfrm>
            <a:off x="5534025" y="3200399"/>
            <a:ext cx="638175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7" name="角丸四角形 86"/>
          <p:cNvSpPr/>
          <p:nvPr/>
        </p:nvSpPr>
        <p:spPr>
          <a:xfrm>
            <a:off x="4352925" y="2038349"/>
            <a:ext cx="638175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8" name="正方形/長方形 87"/>
          <p:cNvSpPr/>
          <p:nvPr/>
        </p:nvSpPr>
        <p:spPr>
          <a:xfrm>
            <a:off x="4314825" y="1171575"/>
            <a:ext cx="657225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9" name="角丸四角形 88"/>
          <p:cNvSpPr/>
          <p:nvPr/>
        </p:nvSpPr>
        <p:spPr>
          <a:xfrm>
            <a:off x="3181351" y="3200399"/>
            <a:ext cx="714374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0" name="角丸四角形 89"/>
          <p:cNvSpPr/>
          <p:nvPr/>
        </p:nvSpPr>
        <p:spPr>
          <a:xfrm>
            <a:off x="4286251" y="4362449"/>
            <a:ext cx="714374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1" name="正方形/長方形 90"/>
          <p:cNvSpPr/>
          <p:nvPr/>
        </p:nvSpPr>
        <p:spPr>
          <a:xfrm>
            <a:off x="4324350" y="5219700"/>
            <a:ext cx="685800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514350" y="466725"/>
            <a:ext cx="2435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              、              は、</a:t>
            </a:r>
            <a:endParaRPr kumimoji="1" lang="en-US" altLang="ja-JP" dirty="0"/>
          </a:p>
          <a:p>
            <a:r>
              <a:rPr lang="ja-JP" altLang="en-US" dirty="0"/>
              <a:t>       </a:t>
            </a:r>
            <a:r>
              <a:rPr kumimoji="1" lang="ja-JP" altLang="en-US" dirty="0"/>
              <a:t>それぞれ</a:t>
            </a:r>
            <a:r>
              <a:rPr lang="ja-JP" altLang="en-US" dirty="0"/>
              <a:t>同じ長さ。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テキスト ボックス 92"/>
              <p:cNvSpPr txBox="1"/>
              <p:nvPr/>
            </p:nvSpPr>
            <p:spPr>
              <a:xfrm>
                <a:off x="5753100" y="352425"/>
                <a:ext cx="3371850" cy="71263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例： </a:t>
                </a:r>
                <a:r>
                  <a:rPr lang="en-US" altLang="ja-JP" dirty="0"/>
                  <a:t>sin(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/>
                  <a:t>π-θ) = </a:t>
                </a:r>
                <a:r>
                  <a:rPr lang="en-US" altLang="ja-JP" dirty="0" err="1"/>
                  <a:t>cosθ</a:t>
                </a:r>
                <a:r>
                  <a:rPr kumimoji="1" lang="en-US" altLang="ja-JP" dirty="0"/>
                  <a:t>, </a:t>
                </a:r>
              </a:p>
              <a:p>
                <a:r>
                  <a:rPr lang="en-US" altLang="ja-JP" dirty="0"/>
                  <a:t>      </a:t>
                </a:r>
                <a:r>
                  <a:rPr lang="ja-JP" altLang="en-US" dirty="0"/>
                  <a:t>  </a:t>
                </a:r>
                <a:r>
                  <a:rPr kumimoji="1" lang="en-US" altLang="ja-JP" dirty="0"/>
                  <a:t>cos</a:t>
                </a:r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/>
                  <a:t>π-θ)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= </a:t>
                </a:r>
                <a:r>
                  <a:rPr kumimoji="1" lang="en-US" altLang="ja-JP" dirty="0" err="1"/>
                  <a:t>sin</a:t>
                </a:r>
                <a:r>
                  <a:rPr lang="en-US" altLang="ja-JP" dirty="0" err="1"/>
                  <a:t>θ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を意味する。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93" name="テキスト ボックス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352425"/>
                <a:ext cx="3371850" cy="712631"/>
              </a:xfrm>
              <a:prstGeom prst="rect">
                <a:avLst/>
              </a:prstGeom>
              <a:blipFill>
                <a:blip r:embed="rId10"/>
                <a:stretch>
                  <a:fillRect l="-1439" t="-5833" r="-180" b="-8333"/>
                </a:stretch>
              </a:blipFill>
              <a:ln w="15875"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曲線コネクタ 101"/>
          <p:cNvCxnSpPr/>
          <p:nvPr/>
        </p:nvCxnSpPr>
        <p:spPr>
          <a:xfrm rot="16200000" flipH="1">
            <a:off x="5586413" y="1185861"/>
            <a:ext cx="400049" cy="47625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344</Words>
  <Application>Microsoft Office PowerPoint</Application>
  <PresentationFormat>画面に合わせる (4:3)</PresentationFormat>
  <Paragraphs>69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Arial</vt:lpstr>
      <vt:lpstr>Calibri</vt:lpstr>
      <vt:lpstr>Cambria Math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Yasunori</dc:creator>
  <cp:lastModifiedBy>Administrator</cp:lastModifiedBy>
  <cp:revision>45</cp:revision>
  <cp:lastPrinted>2024-05-09T13:43:48Z</cp:lastPrinted>
  <dcterms:created xsi:type="dcterms:W3CDTF">2016-04-16T00:21:00Z</dcterms:created>
  <dcterms:modified xsi:type="dcterms:W3CDTF">2024-05-16T15:58:26Z</dcterms:modified>
</cp:coreProperties>
</file>