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9144000" cy="6858000" type="screen4x3"/>
  <p:notesSz cx="6797675" cy="99266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06" autoAdjust="0"/>
    <p:restoredTop sz="94660"/>
  </p:normalViewPr>
  <p:slideViewPr>
    <p:cSldViewPr snapToGrid="0">
      <p:cViewPr varScale="1">
        <p:scale>
          <a:sx n="68" d="100"/>
          <a:sy n="68" d="100"/>
        </p:scale>
        <p:origin x="1212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383421-03FE-4117-BD4D-FFF3E7F07C3B}" type="datetimeFigureOut">
              <a:rPr kumimoji="1" lang="ja-JP" altLang="en-US" smtClean="0"/>
              <a:pPr/>
              <a:t>2026/5/31</a:t>
            </a:fld>
            <a:endParaRPr kumimoji="1" lang="ja-JP" altLang="en-US"/>
          </a:p>
        </p:txBody>
      </p:sp>
      <p:sp>
        <p:nvSpPr>
          <p:cNvPr id="4" name="スライド イメージ プレースホル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4"/>
          </p:nvPr>
        </p:nvSpPr>
        <p:spPr>
          <a:xfrm>
            <a:off x="0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5"/>
          </p:nvPr>
        </p:nvSpPr>
        <p:spPr>
          <a:xfrm>
            <a:off x="3850443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A09462-9662-4EBB-BC51-63916C0C3E9D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kumimoji="1" lang="ja-JP" altLang="en-US" dirty="0"/>
          </a:p>
        </p:txBody>
      </p:sp>
      <p:sp>
        <p:nvSpPr>
          <p:cNvPr id="4" name="スライド番号プレースホル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A09462-9662-4EBB-BC51-63916C0C3E9D}" type="slidenum">
              <a:rPr kumimoji="1" lang="ja-JP" altLang="en-US" smtClean="0"/>
              <a:pPr/>
              <a:t>1</a:t>
            </a:fld>
            <a:endParaRPr kumimoji="1" lang="ja-JP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ja-JP" altLang="en-US"/>
              <a:t>マスタ サブタイトルの書式設定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4C-07B7-49A1-B06A-605A7C46FBE3}" type="datetimeFigureOut">
              <a:rPr kumimoji="1" lang="ja-JP" altLang="en-US" smtClean="0"/>
              <a:pPr/>
              <a:t>2026/5/31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0E843-118F-4FD8-A04B-114A65574889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4C-07B7-49A1-B06A-605A7C46FBE3}" type="datetimeFigureOut">
              <a:rPr kumimoji="1" lang="ja-JP" altLang="en-US" smtClean="0"/>
              <a:pPr/>
              <a:t>2026/5/31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0E843-118F-4FD8-A04B-114A65574889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4C-07B7-49A1-B06A-605A7C46FBE3}" type="datetimeFigureOut">
              <a:rPr kumimoji="1" lang="ja-JP" altLang="en-US" smtClean="0"/>
              <a:pPr/>
              <a:t>2026/5/31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0E843-118F-4FD8-A04B-114A65574889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4C-07B7-49A1-B06A-605A7C46FBE3}" type="datetimeFigureOut">
              <a:rPr kumimoji="1" lang="ja-JP" altLang="en-US" smtClean="0"/>
              <a:pPr/>
              <a:t>2026/5/31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0E843-118F-4FD8-A04B-114A65574889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4C-07B7-49A1-B06A-605A7C46FBE3}" type="datetimeFigureOut">
              <a:rPr kumimoji="1" lang="ja-JP" altLang="en-US" smtClean="0"/>
              <a:pPr/>
              <a:t>2026/5/31</a:t>
            </a:fld>
            <a:endParaRPr kumimoji="1" lang="ja-JP" altLang="en-US"/>
          </a:p>
        </p:txBody>
      </p:sp>
      <p:sp>
        <p:nvSpPr>
          <p:cNvPr id="8" name="フッター プレースホル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0E843-118F-4FD8-A04B-114A65574889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4C-07B7-49A1-B06A-605A7C46FBE3}" type="datetimeFigureOut">
              <a:rPr kumimoji="1" lang="ja-JP" altLang="en-US" smtClean="0"/>
              <a:pPr/>
              <a:t>2026/5/31</a:t>
            </a:fld>
            <a:endParaRPr kumimoji="1"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0E843-118F-4FD8-A04B-114A65574889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4C-07B7-49A1-B06A-605A7C46FBE3}" type="datetimeFigureOut">
              <a:rPr kumimoji="1" lang="ja-JP" altLang="en-US" smtClean="0"/>
              <a:pPr/>
              <a:t>2026/5/31</a:t>
            </a:fld>
            <a:endParaRPr kumimoji="1" lang="ja-JP" altLang="en-US"/>
          </a:p>
        </p:txBody>
      </p:sp>
      <p:sp>
        <p:nvSpPr>
          <p:cNvPr id="3" name="フッター プレースホル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0E843-118F-4FD8-A04B-114A65574889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4C-07B7-49A1-B06A-605A7C46FBE3}" type="datetimeFigureOut">
              <a:rPr kumimoji="1" lang="ja-JP" altLang="en-US" smtClean="0"/>
              <a:pPr/>
              <a:t>2026/5/31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0E843-118F-4FD8-A04B-114A65574889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4C-07B7-49A1-B06A-605A7C46FBE3}" type="datetimeFigureOut">
              <a:rPr kumimoji="1" lang="ja-JP" altLang="en-US" smtClean="0"/>
              <a:pPr/>
              <a:t>2026/5/31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0E843-118F-4FD8-A04B-114A65574889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4C-07B7-49A1-B06A-605A7C46FBE3}" type="datetimeFigureOut">
              <a:rPr kumimoji="1" lang="ja-JP" altLang="en-US" smtClean="0"/>
              <a:pPr/>
              <a:t>2026/5/31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0E843-118F-4FD8-A04B-114A65574889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4C-07B7-49A1-B06A-605A7C46FBE3}" type="datetimeFigureOut">
              <a:rPr kumimoji="1" lang="ja-JP" altLang="en-US" smtClean="0"/>
              <a:pPr/>
              <a:t>2026/5/31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0E843-118F-4FD8-A04B-114A65574889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AA404C-07B7-49A1-B06A-605A7C46FBE3}" type="datetimeFigureOut">
              <a:rPr kumimoji="1" lang="ja-JP" altLang="en-US" smtClean="0"/>
              <a:pPr/>
              <a:t>2026/5/31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80E843-118F-4FD8-A04B-114A65574889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3" Type="http://schemas.openxmlformats.org/officeDocument/2006/relationships/image" Target="../media/image270.png"/><Relationship Id="rId7" Type="http://schemas.openxmlformats.org/officeDocument/2006/relationships/image" Target="../media/image31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10.png"/><Relationship Id="rId4" Type="http://schemas.openxmlformats.org/officeDocument/2006/relationships/image" Target="../media/image28.png"/><Relationship Id="rId9" Type="http://schemas.openxmlformats.org/officeDocument/2006/relationships/image" Target="../media/image300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円/楕円 3"/>
          <p:cNvSpPr/>
          <p:nvPr/>
        </p:nvSpPr>
        <p:spPr>
          <a:xfrm>
            <a:off x="2063527" y="1124744"/>
            <a:ext cx="4680520" cy="468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" name="直線矢印コネクタ 5"/>
          <p:cNvCxnSpPr/>
          <p:nvPr/>
        </p:nvCxnSpPr>
        <p:spPr>
          <a:xfrm>
            <a:off x="345815" y="3465004"/>
            <a:ext cx="86400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/>
          <p:cNvCxnSpPr/>
          <p:nvPr/>
        </p:nvCxnSpPr>
        <p:spPr>
          <a:xfrm flipV="1">
            <a:off x="4403787" y="368660"/>
            <a:ext cx="0" cy="61206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/>
          <p:cNvSpPr txBox="1"/>
          <p:nvPr/>
        </p:nvSpPr>
        <p:spPr>
          <a:xfrm>
            <a:off x="6701755" y="3388804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dirty="0"/>
              <a:t>1</a:t>
            </a:r>
            <a:endParaRPr kumimoji="1" lang="ja-JP" altLang="en-US" sz="2000" dirty="0"/>
          </a:p>
        </p:txBody>
      </p:sp>
      <p:sp>
        <p:nvSpPr>
          <p:cNvPr id="19" name="テキスト ボックス 18"/>
          <p:cNvSpPr txBox="1"/>
          <p:nvPr/>
        </p:nvSpPr>
        <p:spPr>
          <a:xfrm>
            <a:off x="1601662" y="3389244"/>
            <a:ext cx="4796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 err="1"/>
              <a:t>ｰ</a:t>
            </a:r>
            <a:r>
              <a:rPr kumimoji="1" lang="en-US" altLang="ja-JP" sz="2000" dirty="0"/>
              <a:t>1</a:t>
            </a:r>
            <a:endParaRPr kumimoji="1" lang="ja-JP" altLang="en-US" sz="2000" dirty="0"/>
          </a:p>
        </p:txBody>
      </p:sp>
      <p:sp>
        <p:nvSpPr>
          <p:cNvPr id="20" name="テキスト ボックス 19"/>
          <p:cNvSpPr txBox="1"/>
          <p:nvPr/>
        </p:nvSpPr>
        <p:spPr>
          <a:xfrm>
            <a:off x="3935735" y="5769260"/>
            <a:ext cx="4796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 err="1"/>
              <a:t>ｰ</a:t>
            </a:r>
            <a:r>
              <a:rPr kumimoji="1" lang="en-US" altLang="ja-JP" sz="2000" dirty="0"/>
              <a:t>1</a:t>
            </a:r>
            <a:endParaRPr kumimoji="1" lang="ja-JP" altLang="en-US" sz="2000" dirty="0"/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4079751" y="728700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dirty="0"/>
              <a:t>1</a:t>
            </a:r>
            <a:endParaRPr kumimoji="1" lang="ja-JP" altLang="en-US" sz="2000" dirty="0"/>
          </a:p>
        </p:txBody>
      </p:sp>
      <p:cxnSp>
        <p:nvCxnSpPr>
          <p:cNvPr id="27" name="直線コネクタ 26"/>
          <p:cNvCxnSpPr/>
          <p:nvPr/>
        </p:nvCxnSpPr>
        <p:spPr>
          <a:xfrm rot="1800000" flipV="1">
            <a:off x="2064538" y="3468848"/>
            <a:ext cx="468000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31"/>
          <p:cNvCxnSpPr/>
          <p:nvPr/>
        </p:nvCxnSpPr>
        <p:spPr>
          <a:xfrm rot="9000000" flipV="1">
            <a:off x="2069300" y="3461446"/>
            <a:ext cx="468000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コネクタ 32"/>
          <p:cNvCxnSpPr/>
          <p:nvPr/>
        </p:nvCxnSpPr>
        <p:spPr>
          <a:xfrm rot="3600000" flipV="1">
            <a:off x="2064706" y="3465755"/>
            <a:ext cx="468000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コネクタ 33"/>
          <p:cNvCxnSpPr/>
          <p:nvPr/>
        </p:nvCxnSpPr>
        <p:spPr>
          <a:xfrm rot="7200000" flipV="1">
            <a:off x="2067371" y="3458327"/>
            <a:ext cx="468000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コネクタ 34"/>
          <p:cNvCxnSpPr/>
          <p:nvPr/>
        </p:nvCxnSpPr>
        <p:spPr>
          <a:xfrm rot="2700000" flipV="1">
            <a:off x="2059906" y="3465033"/>
            <a:ext cx="468000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/>
          <p:cNvCxnSpPr/>
          <p:nvPr/>
        </p:nvCxnSpPr>
        <p:spPr>
          <a:xfrm rot="8100000" flipV="1">
            <a:off x="2074192" y="3457891"/>
            <a:ext cx="468000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テキスト ボックス 40"/>
              <p:cNvSpPr txBox="1"/>
              <p:nvPr/>
            </p:nvSpPr>
            <p:spPr>
              <a:xfrm>
                <a:off x="6438900" y="1924050"/>
                <a:ext cx="2350323" cy="42236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/>
                  <a:t>θ</a:t>
                </a:r>
                <a:r>
                  <a:rPr lang="ja-JP" altLang="en-US" dirty="0"/>
                  <a:t> </a:t>
                </a:r>
                <a:r>
                  <a:rPr kumimoji="1" lang="en-US" altLang="ja-JP" dirty="0"/>
                  <a:t>=</a:t>
                </a:r>
                <a:r>
                  <a:rPr kumimoji="1" lang="ja-JP" altLang="en-US" dirty="0"/>
                  <a:t> </a:t>
                </a:r>
                <a:r>
                  <a:rPr kumimoji="1" lang="en-US" altLang="ja-JP" dirty="0"/>
                  <a:t>30°</a:t>
                </a:r>
                <a:r>
                  <a:rPr kumimoji="1" lang="ja-JP" altLang="en-US" dirty="0" err="1"/>
                  <a:t>、</a:t>
                </a:r>
                <a:r>
                  <a:rPr lang="ja-JP" altLang="en-US" dirty="0"/>
                  <a:t>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ja-JP" altLang="en-US" i="1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altLang="ja-JP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6</m:t>
                            </m:r>
                          </m:den>
                        </m:f>
                      </m:e>
                    </m:box>
                  </m:oMath>
                </a14:m>
                <a:r>
                  <a:rPr lang="en-US" altLang="ja-JP" dirty="0"/>
                  <a:t>π; </a:t>
                </a:r>
                <a:r>
                  <a:rPr lang="en-US" altLang="ja-JP" dirty="0" err="1"/>
                  <a:t>tanθ</a:t>
                </a:r>
                <a:r>
                  <a:rPr lang="en-US" altLang="ja-JP" dirty="0"/>
                  <a:t> =</a:t>
                </a:r>
                <a:r>
                  <a:rPr lang="ja-JP" altLang="en-US" dirty="0"/>
                  <a:t>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ja-JP" altLang="en-US" i="1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altLang="ja-JP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rad>
                          </m:den>
                        </m:f>
                      </m:e>
                    </m:box>
                  </m:oMath>
                </a14:m>
                <a:endParaRPr lang="en-US" altLang="ja-JP" dirty="0"/>
              </a:p>
            </p:txBody>
          </p:sp>
        </mc:Choice>
        <mc:Fallback xmlns="">
          <p:sp>
            <p:nvSpPr>
              <p:cNvPr id="41" name="テキスト ボックス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900" y="1924050"/>
                <a:ext cx="2350323" cy="422360"/>
              </a:xfrm>
              <a:prstGeom prst="rect">
                <a:avLst/>
              </a:prstGeom>
              <a:blipFill>
                <a:blip r:embed="rId3"/>
                <a:stretch>
                  <a:fillRect l="-1804" t="-9859" b="-1126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テキスト ボックス 41"/>
              <p:cNvSpPr txBox="1"/>
              <p:nvPr/>
            </p:nvSpPr>
            <p:spPr>
              <a:xfrm>
                <a:off x="4400550" y="628650"/>
                <a:ext cx="2648867" cy="39619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/>
                  <a:t>θ</a:t>
                </a:r>
                <a:r>
                  <a:rPr lang="ja-JP" altLang="en-US" dirty="0"/>
                  <a:t> </a:t>
                </a:r>
                <a:r>
                  <a:rPr kumimoji="1" lang="en-US" altLang="ja-JP" dirty="0"/>
                  <a:t>=</a:t>
                </a:r>
                <a:r>
                  <a:rPr kumimoji="1" lang="ja-JP" altLang="en-US" dirty="0"/>
                  <a:t> </a:t>
                </a:r>
                <a:r>
                  <a:rPr kumimoji="1" lang="en-US" altLang="ja-JP" dirty="0"/>
                  <a:t>90°</a:t>
                </a:r>
                <a:r>
                  <a:rPr kumimoji="1" lang="ja-JP" altLang="en-US" dirty="0" err="1"/>
                  <a:t>、</a:t>
                </a:r>
                <a14:m>
                  <m:oMath xmlns:m="http://schemas.openxmlformats.org/officeDocument/2006/math">
                    <m:box>
                      <m:boxPr>
                        <m:ctrlPr>
                          <a:rPr kumimoji="1" lang="en-US" altLang="ja-JP" i="1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box>
                  </m:oMath>
                </a14:m>
                <a:r>
                  <a:rPr kumimoji="1" lang="en-US" altLang="ja-JP" dirty="0"/>
                  <a:t>π</a:t>
                </a:r>
                <a:r>
                  <a:rPr lang="en-US" altLang="ja-JP"/>
                  <a:t>; tan</a:t>
                </a:r>
                <a:r>
                  <a:rPr lang="el-GR" altLang="ja-JP"/>
                  <a:t>θ </a:t>
                </a:r>
                <a:r>
                  <a:rPr lang="ja-JP" altLang="en-US"/>
                  <a:t>未定義</a:t>
                </a:r>
                <a:endParaRPr kumimoji="1" lang="en-US" altLang="ja-JP" dirty="0"/>
              </a:p>
            </p:txBody>
          </p:sp>
        </mc:Choice>
        <mc:Fallback xmlns="">
          <p:sp>
            <p:nvSpPr>
              <p:cNvPr id="42" name="テキスト ボックス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0550" y="628650"/>
                <a:ext cx="2648867" cy="396199"/>
              </a:xfrm>
              <a:prstGeom prst="rect">
                <a:avLst/>
              </a:prstGeom>
              <a:blipFill>
                <a:blip r:embed="rId4"/>
                <a:stretch>
                  <a:fillRect l="-1835" t="-10448" r="-1147" b="-1641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テキスト ボックス 42"/>
          <p:cNvSpPr txBox="1"/>
          <p:nvPr/>
        </p:nvSpPr>
        <p:spPr>
          <a:xfrm>
            <a:off x="6808305" y="3095625"/>
            <a:ext cx="208461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ja-JP" dirty="0"/>
              <a:t>θ</a:t>
            </a:r>
            <a:r>
              <a:rPr lang="ja-JP" altLang="en-US" dirty="0"/>
              <a:t> </a:t>
            </a:r>
            <a:r>
              <a:rPr kumimoji="1" lang="en-US" altLang="ja-JP" dirty="0"/>
              <a:t>=</a:t>
            </a:r>
            <a:r>
              <a:rPr kumimoji="1" lang="ja-JP" altLang="en-US" dirty="0"/>
              <a:t> </a:t>
            </a:r>
            <a:r>
              <a:rPr kumimoji="1" lang="en-US" altLang="ja-JP" dirty="0"/>
              <a:t>0°</a:t>
            </a:r>
            <a:r>
              <a:rPr kumimoji="1" lang="ja-JP" altLang="en-US" dirty="0" err="1"/>
              <a:t>、</a:t>
            </a:r>
            <a:r>
              <a:rPr kumimoji="1" lang="en-US" altLang="ja-JP" dirty="0"/>
              <a:t>0; </a:t>
            </a:r>
            <a:r>
              <a:rPr kumimoji="1" lang="en-US" altLang="ja-JP" dirty="0" err="1"/>
              <a:t>tanθ</a:t>
            </a:r>
            <a:r>
              <a:rPr kumimoji="1" lang="en-US" altLang="ja-JP" dirty="0"/>
              <a:t> = 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テキスト ボックス 43"/>
              <p:cNvSpPr txBox="1"/>
              <p:nvPr/>
            </p:nvSpPr>
            <p:spPr>
              <a:xfrm>
                <a:off x="5562600" y="1057275"/>
                <a:ext cx="2457404" cy="39748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/>
                  <a:t>θ</a:t>
                </a:r>
                <a:r>
                  <a:rPr lang="ja-JP" altLang="en-US" dirty="0"/>
                  <a:t> </a:t>
                </a:r>
                <a:r>
                  <a:rPr kumimoji="1" lang="en-US" altLang="ja-JP" dirty="0"/>
                  <a:t>=</a:t>
                </a:r>
                <a:r>
                  <a:rPr kumimoji="1" lang="ja-JP" altLang="en-US" dirty="0"/>
                  <a:t> </a:t>
                </a:r>
                <a:r>
                  <a:rPr kumimoji="1" lang="en-US" altLang="ja-JP" dirty="0"/>
                  <a:t>60°</a:t>
                </a:r>
                <a:r>
                  <a:rPr kumimoji="1" lang="ja-JP" altLang="en-US" dirty="0" err="1"/>
                  <a:t>、</a:t>
                </a:r>
                <a14:m>
                  <m:oMath xmlns:m="http://schemas.openxmlformats.org/officeDocument/2006/math">
                    <m:box>
                      <m:boxPr>
                        <m:ctrlPr>
                          <a:rPr kumimoji="1" lang="ja-JP" altLang="en-US" i="1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e>
                    </m:box>
                  </m:oMath>
                </a14:m>
                <a:r>
                  <a:rPr kumimoji="1" lang="en-US" altLang="ja-JP" dirty="0"/>
                  <a:t>π</a:t>
                </a:r>
                <a:r>
                  <a:rPr lang="en-US" altLang="ja-JP" dirty="0"/>
                  <a:t>; </a:t>
                </a:r>
                <a:r>
                  <a:rPr lang="en-US" altLang="ja-JP" dirty="0" err="1"/>
                  <a:t>tanθ</a:t>
                </a:r>
                <a:r>
                  <a:rPr lang="en-US" altLang="ja-JP" dirty="0"/>
                  <a:t>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ja-JP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ja-JP" i="1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</m:oMath>
                </a14:m>
                <a:endParaRPr kumimoji="1" lang="en-US" altLang="ja-JP" dirty="0"/>
              </a:p>
            </p:txBody>
          </p:sp>
        </mc:Choice>
        <mc:Fallback xmlns="">
          <p:sp>
            <p:nvSpPr>
              <p:cNvPr id="44" name="テキスト ボックス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600" y="1057275"/>
                <a:ext cx="2457404" cy="397481"/>
              </a:xfrm>
              <a:prstGeom prst="rect">
                <a:avLst/>
              </a:prstGeom>
              <a:blipFill>
                <a:blip r:embed="rId5"/>
                <a:stretch>
                  <a:fillRect l="-1975" t="-8824" b="-1617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テキスト ボックス 44"/>
              <p:cNvSpPr txBox="1"/>
              <p:nvPr/>
            </p:nvSpPr>
            <p:spPr>
              <a:xfrm>
                <a:off x="6076950" y="1485900"/>
                <a:ext cx="2241704" cy="39619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/>
                  <a:t>θ</a:t>
                </a:r>
                <a:r>
                  <a:rPr lang="ja-JP" altLang="en-US" dirty="0"/>
                  <a:t> </a:t>
                </a:r>
                <a:r>
                  <a:rPr kumimoji="1" lang="en-US" altLang="ja-JP" dirty="0"/>
                  <a:t>=</a:t>
                </a:r>
                <a:r>
                  <a:rPr kumimoji="1" lang="ja-JP" altLang="en-US" dirty="0"/>
                  <a:t> </a:t>
                </a:r>
                <a:r>
                  <a:rPr kumimoji="1" lang="en-US" altLang="ja-JP" dirty="0"/>
                  <a:t>45°</a:t>
                </a:r>
                <a:r>
                  <a:rPr kumimoji="1" lang="ja-JP" altLang="en-US" dirty="0" err="1"/>
                  <a:t>、</a:t>
                </a:r>
                <a14:m>
                  <m:oMath xmlns:m="http://schemas.openxmlformats.org/officeDocument/2006/math">
                    <m:box>
                      <m:boxPr>
                        <m:ctrlPr>
                          <a:rPr kumimoji="1" lang="ja-JP" altLang="en-US" i="1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box>
                  </m:oMath>
                </a14:m>
                <a:r>
                  <a:rPr kumimoji="1" lang="en-US" altLang="ja-JP" dirty="0"/>
                  <a:t>π</a:t>
                </a:r>
                <a:r>
                  <a:rPr lang="en-US" altLang="ja-JP" dirty="0"/>
                  <a:t>; </a:t>
                </a:r>
                <a:r>
                  <a:rPr lang="en-US" altLang="ja-JP" dirty="0" err="1"/>
                  <a:t>tanθ</a:t>
                </a:r>
                <a:r>
                  <a:rPr lang="en-US" altLang="ja-JP" dirty="0"/>
                  <a:t> = 1</a:t>
                </a:r>
                <a:endParaRPr kumimoji="1" lang="en-US" altLang="ja-JP" dirty="0"/>
              </a:p>
            </p:txBody>
          </p:sp>
        </mc:Choice>
        <mc:Fallback xmlns="">
          <p:sp>
            <p:nvSpPr>
              <p:cNvPr id="45" name="テキスト ボックス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6950" y="1485900"/>
                <a:ext cx="2241704" cy="396199"/>
              </a:xfrm>
              <a:prstGeom prst="rect">
                <a:avLst/>
              </a:prstGeom>
              <a:blipFill>
                <a:blip r:embed="rId6"/>
                <a:stretch>
                  <a:fillRect l="-2162" t="-11940" r="-811" b="-1641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テキスト ボックス 45"/>
              <p:cNvSpPr txBox="1"/>
              <p:nvPr/>
            </p:nvSpPr>
            <p:spPr>
              <a:xfrm>
                <a:off x="333375" y="1007994"/>
                <a:ext cx="2721899" cy="39748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/>
                  <a:t>θ</a:t>
                </a:r>
                <a:r>
                  <a:rPr lang="ja-JP" altLang="en-US" dirty="0"/>
                  <a:t> </a:t>
                </a:r>
                <a:r>
                  <a:rPr kumimoji="1" lang="en-US" altLang="ja-JP" dirty="0"/>
                  <a:t>=</a:t>
                </a:r>
                <a:r>
                  <a:rPr kumimoji="1" lang="ja-JP" altLang="en-US" dirty="0"/>
                  <a:t> </a:t>
                </a:r>
                <a:r>
                  <a:rPr kumimoji="1" lang="en-US" altLang="ja-JP" dirty="0"/>
                  <a:t>120°</a:t>
                </a:r>
                <a:r>
                  <a:rPr kumimoji="1" lang="ja-JP" altLang="en-US" dirty="0" err="1"/>
                  <a:t>、</a:t>
                </a:r>
                <a14:m>
                  <m:oMath xmlns:m="http://schemas.openxmlformats.org/officeDocument/2006/math">
                    <m:box>
                      <m:boxPr>
                        <m:ctrlPr>
                          <a:rPr kumimoji="1" lang="ja-JP" altLang="en-US" i="1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e>
                    </m:box>
                  </m:oMath>
                </a14:m>
                <a:r>
                  <a:rPr kumimoji="1" lang="en-US" altLang="ja-JP" dirty="0"/>
                  <a:t>π</a:t>
                </a:r>
                <a:r>
                  <a:rPr lang="en-US" altLang="ja-JP" dirty="0"/>
                  <a:t>; </a:t>
                </a:r>
                <a:r>
                  <a:rPr lang="en-US" altLang="ja-JP" dirty="0" err="1"/>
                  <a:t>tanθ</a:t>
                </a:r>
                <a:r>
                  <a:rPr lang="en-US" altLang="ja-JP" dirty="0"/>
                  <a:t> =</a:t>
                </a:r>
                <a:r>
                  <a:rPr lang="ja-JP" altLang="en-US" dirty="0"/>
                  <a:t>ｰ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ja-JP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ja-JP" i="1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</m:oMath>
                </a14:m>
                <a:r>
                  <a:rPr lang="en-US" altLang="ja-JP" dirty="0"/>
                  <a:t> </a:t>
                </a:r>
                <a:endParaRPr kumimoji="1" lang="en-US" altLang="ja-JP" dirty="0"/>
              </a:p>
            </p:txBody>
          </p:sp>
        </mc:Choice>
        <mc:Fallback xmlns="">
          <p:sp>
            <p:nvSpPr>
              <p:cNvPr id="46" name="テキスト ボックス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375" y="1007994"/>
                <a:ext cx="2721899" cy="397481"/>
              </a:xfrm>
              <a:prstGeom prst="rect">
                <a:avLst/>
              </a:prstGeom>
              <a:blipFill>
                <a:blip r:embed="rId7"/>
                <a:stretch>
                  <a:fillRect l="-1786" t="-8824" b="-1617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テキスト ボックス 46"/>
              <p:cNvSpPr txBox="1"/>
              <p:nvPr/>
            </p:nvSpPr>
            <p:spPr>
              <a:xfrm>
                <a:off x="254782" y="1427922"/>
                <a:ext cx="2506199" cy="39619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altLang="ja-JP" dirty="0"/>
                  <a:t>θ</a:t>
                </a:r>
                <a:r>
                  <a:rPr lang="ja-JP" altLang="en-US" dirty="0"/>
                  <a:t> </a:t>
                </a:r>
                <a:r>
                  <a:rPr kumimoji="1" lang="en-US" altLang="ja-JP" dirty="0"/>
                  <a:t>=</a:t>
                </a:r>
                <a:r>
                  <a:rPr kumimoji="1" lang="ja-JP" altLang="en-US" dirty="0"/>
                  <a:t> </a:t>
                </a:r>
                <a:r>
                  <a:rPr kumimoji="1" lang="en-US" altLang="ja-JP" dirty="0"/>
                  <a:t>135°</a:t>
                </a:r>
                <a:r>
                  <a:rPr kumimoji="1" lang="ja-JP" altLang="en-US" dirty="0" err="1"/>
                  <a:t>、</a:t>
                </a:r>
                <a14:m>
                  <m:oMath xmlns:m="http://schemas.openxmlformats.org/officeDocument/2006/math">
                    <m:box>
                      <m:boxPr>
                        <m:ctrlPr>
                          <a:rPr kumimoji="1" lang="ja-JP" altLang="en-US" i="1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box>
                  </m:oMath>
                </a14:m>
                <a:r>
                  <a:rPr kumimoji="1" lang="en-US" altLang="ja-JP" dirty="0"/>
                  <a:t>π</a:t>
                </a:r>
                <a:r>
                  <a:rPr lang="en-US" altLang="ja-JP" dirty="0"/>
                  <a:t>; </a:t>
                </a:r>
                <a:r>
                  <a:rPr lang="en-US" altLang="ja-JP" dirty="0" err="1"/>
                  <a:t>tanθ</a:t>
                </a:r>
                <a:r>
                  <a:rPr lang="en-US" altLang="ja-JP" dirty="0"/>
                  <a:t> = </a:t>
                </a:r>
                <a:r>
                  <a:rPr lang="ja-JP" altLang="en-US" dirty="0" err="1"/>
                  <a:t>ｰ</a:t>
                </a:r>
                <a:r>
                  <a:rPr lang="en-US" altLang="ja-JP" dirty="0"/>
                  <a:t>1</a:t>
                </a:r>
                <a:endParaRPr kumimoji="1" lang="en-US" altLang="ja-JP" dirty="0"/>
              </a:p>
            </p:txBody>
          </p:sp>
        </mc:Choice>
        <mc:Fallback xmlns="">
          <p:sp>
            <p:nvSpPr>
              <p:cNvPr id="47" name="テキスト ボックス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82" y="1427922"/>
                <a:ext cx="2506199" cy="396199"/>
              </a:xfrm>
              <a:prstGeom prst="rect">
                <a:avLst/>
              </a:prstGeom>
              <a:blipFill>
                <a:blip r:embed="rId8"/>
                <a:stretch>
                  <a:fillRect l="-969" t="-10448" r="-1695" b="-1641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テキスト ボックス 47"/>
              <p:cNvSpPr txBox="1"/>
              <p:nvPr/>
            </p:nvSpPr>
            <p:spPr>
              <a:xfrm>
                <a:off x="628649" y="1847850"/>
                <a:ext cx="1584553" cy="72776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altLang="ja-JP" dirty="0"/>
                  <a:t>θ</a:t>
                </a:r>
                <a:r>
                  <a:rPr lang="ja-JP" altLang="en-US" dirty="0"/>
                  <a:t> </a:t>
                </a:r>
                <a:r>
                  <a:rPr kumimoji="1" lang="en-US" altLang="ja-JP" dirty="0"/>
                  <a:t>=</a:t>
                </a:r>
                <a:r>
                  <a:rPr kumimoji="1" lang="ja-JP" altLang="en-US" dirty="0"/>
                  <a:t> </a:t>
                </a:r>
                <a:r>
                  <a:rPr kumimoji="1" lang="en-US" altLang="ja-JP" dirty="0"/>
                  <a:t>150°</a:t>
                </a:r>
                <a:r>
                  <a:rPr kumimoji="1" lang="ja-JP" altLang="en-US" dirty="0" err="1"/>
                  <a:t>、</a:t>
                </a:r>
                <a14:m>
                  <m:oMath xmlns:m="http://schemas.openxmlformats.org/officeDocument/2006/math">
                    <m:box>
                      <m:boxPr>
                        <m:ctrlPr>
                          <a:rPr kumimoji="1" lang="ja-JP" altLang="en-US" i="1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5</m:t>
                            </m:r>
                          </m:num>
                          <m:den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6</m:t>
                            </m:r>
                          </m:den>
                        </m:f>
                      </m:e>
                    </m:box>
                  </m:oMath>
                </a14:m>
                <a:r>
                  <a:rPr kumimoji="1" lang="en-US" altLang="ja-JP" dirty="0"/>
                  <a:t>π</a:t>
                </a:r>
                <a:r>
                  <a:rPr lang="en-US" altLang="ja-JP" dirty="0"/>
                  <a:t>; </a:t>
                </a:r>
                <a:r>
                  <a:rPr lang="en-US" altLang="ja-JP" dirty="0" err="1"/>
                  <a:t>tanθ</a:t>
                </a:r>
                <a:r>
                  <a:rPr lang="en-US" altLang="ja-JP" dirty="0"/>
                  <a:t> = </a:t>
                </a:r>
                <a:r>
                  <a:rPr lang="ja-JP" altLang="en-US" dirty="0" err="1"/>
                  <a:t>ｰ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ja-JP" altLang="en-US" i="1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altLang="ja-JP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rad>
                          </m:den>
                        </m:f>
                      </m:e>
                    </m:box>
                  </m:oMath>
                </a14:m>
                <a:endParaRPr kumimoji="1" lang="en-US" altLang="ja-JP" dirty="0"/>
              </a:p>
            </p:txBody>
          </p:sp>
        </mc:Choice>
        <mc:Fallback xmlns="">
          <p:sp>
            <p:nvSpPr>
              <p:cNvPr id="48" name="テキスト ボックス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49" y="1847850"/>
                <a:ext cx="1584553" cy="727763"/>
              </a:xfrm>
              <a:prstGeom prst="rect">
                <a:avLst/>
              </a:prstGeom>
              <a:blipFill>
                <a:blip r:embed="rId9"/>
                <a:stretch>
                  <a:fillRect l="-2672" t="-5738" r="-2290" b="-491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テキスト ボックス 48"/>
          <p:cNvSpPr txBox="1"/>
          <p:nvPr/>
        </p:nvSpPr>
        <p:spPr>
          <a:xfrm>
            <a:off x="470175" y="2818986"/>
            <a:ext cx="158565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ja-JP" dirty="0"/>
              <a:t>θ</a:t>
            </a:r>
            <a:r>
              <a:rPr lang="ja-JP" altLang="en-US" dirty="0"/>
              <a:t> </a:t>
            </a:r>
            <a:r>
              <a:rPr kumimoji="1" lang="en-US" altLang="ja-JP" dirty="0"/>
              <a:t>=</a:t>
            </a:r>
            <a:r>
              <a:rPr kumimoji="1" lang="ja-JP" altLang="en-US" dirty="0"/>
              <a:t> </a:t>
            </a:r>
            <a:r>
              <a:rPr kumimoji="1" lang="en-US" altLang="ja-JP" dirty="0"/>
              <a:t>180°</a:t>
            </a:r>
            <a:r>
              <a:rPr kumimoji="1" lang="ja-JP" altLang="en-US" dirty="0" err="1"/>
              <a:t>、</a:t>
            </a:r>
            <a:r>
              <a:rPr kumimoji="1" lang="en-US" altLang="ja-JP" dirty="0"/>
              <a:t>π</a:t>
            </a:r>
            <a:r>
              <a:rPr lang="en-US" altLang="ja-JP" dirty="0"/>
              <a:t>; </a:t>
            </a:r>
            <a:r>
              <a:rPr lang="en-US" altLang="ja-JP" dirty="0" err="1"/>
              <a:t>tanθ</a:t>
            </a:r>
            <a:r>
              <a:rPr lang="en-US" altLang="ja-JP" dirty="0"/>
              <a:t> = 0</a:t>
            </a:r>
            <a:endParaRPr kumimoji="1" lang="en-US" altLang="ja-JP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テキスト ボックス 49"/>
              <p:cNvSpPr txBox="1"/>
              <p:nvPr/>
            </p:nvSpPr>
            <p:spPr>
              <a:xfrm>
                <a:off x="6457950" y="4399722"/>
                <a:ext cx="1962273" cy="69935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altLang="ja-JP" dirty="0"/>
                  <a:t>θ</a:t>
                </a:r>
                <a:r>
                  <a:rPr lang="ja-JP" altLang="en-US" dirty="0"/>
                  <a:t> </a:t>
                </a:r>
                <a:r>
                  <a:rPr kumimoji="1" lang="en-US" altLang="ja-JP" dirty="0"/>
                  <a:t>=</a:t>
                </a:r>
                <a:r>
                  <a:rPr kumimoji="1" lang="ja-JP" altLang="en-US" dirty="0"/>
                  <a:t> </a:t>
                </a:r>
                <a:r>
                  <a:rPr kumimoji="1" lang="en-US" altLang="ja-JP" dirty="0"/>
                  <a:t>330°</a:t>
                </a:r>
                <a:r>
                  <a:rPr kumimoji="1" lang="ja-JP" altLang="en-US" dirty="0" err="1"/>
                  <a:t>、</a:t>
                </a:r>
                <a:r>
                  <a:rPr kumimoji="1" lang="en-US" altLang="ja-JP" dirty="0"/>
                  <a:t>11π/6</a:t>
                </a:r>
                <a:r>
                  <a:rPr lang="en-US" altLang="ja-JP" dirty="0"/>
                  <a:t>; </a:t>
                </a:r>
                <a:r>
                  <a:rPr lang="en-US" altLang="ja-JP" dirty="0" err="1"/>
                  <a:t>tanθ</a:t>
                </a:r>
                <a:r>
                  <a:rPr lang="en-US" altLang="ja-JP" dirty="0"/>
                  <a:t> =</a:t>
                </a:r>
                <a:r>
                  <a:rPr lang="ja-JP" altLang="en-US" dirty="0"/>
                  <a:t> </a:t>
                </a:r>
                <a:r>
                  <a:rPr lang="ja-JP" altLang="en-US" dirty="0" err="1"/>
                  <a:t>ｰ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ja-JP" altLang="en-US" i="1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altLang="ja-JP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rad>
                          </m:den>
                        </m:f>
                      </m:e>
                    </m:box>
                  </m:oMath>
                </a14:m>
                <a:endParaRPr kumimoji="1" lang="en-US" altLang="ja-JP" dirty="0"/>
              </a:p>
            </p:txBody>
          </p:sp>
        </mc:Choice>
        <mc:Fallback xmlns="">
          <p:sp>
            <p:nvSpPr>
              <p:cNvPr id="50" name="テキスト ボックス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7950" y="4399722"/>
                <a:ext cx="1962273" cy="699359"/>
              </a:xfrm>
              <a:prstGeom prst="rect">
                <a:avLst/>
              </a:prstGeom>
              <a:blipFill>
                <a:blip r:embed="rId10"/>
                <a:stretch>
                  <a:fillRect l="-2160" t="-6897" r="-926" b="-689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テキスト ボックス 50"/>
              <p:cNvSpPr txBox="1"/>
              <p:nvPr/>
            </p:nvSpPr>
            <p:spPr>
              <a:xfrm>
                <a:off x="6046719" y="5095875"/>
                <a:ext cx="2610395" cy="39619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/>
                  <a:t>θ</a:t>
                </a:r>
                <a:r>
                  <a:rPr lang="ja-JP" altLang="en-US" dirty="0"/>
                  <a:t> </a:t>
                </a:r>
                <a:r>
                  <a:rPr kumimoji="1" lang="en-US" altLang="ja-JP" dirty="0"/>
                  <a:t>=</a:t>
                </a:r>
                <a:r>
                  <a:rPr kumimoji="1" lang="ja-JP" altLang="en-US" dirty="0"/>
                  <a:t> </a:t>
                </a:r>
                <a:r>
                  <a:rPr kumimoji="1" lang="en-US" altLang="ja-JP" dirty="0"/>
                  <a:t>315°</a:t>
                </a:r>
                <a:r>
                  <a:rPr kumimoji="1" lang="ja-JP" altLang="en-US" dirty="0" err="1"/>
                  <a:t>、</a:t>
                </a:r>
                <a:r>
                  <a:rPr lang="ja-JP" altLang="en-US" dirty="0"/>
                  <a:t>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ja-JP" altLang="en-US" i="1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altLang="ja-JP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num>
                          <m:den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box>
                    <m:r>
                      <a:rPr lang="en-US" altLang="ja-JP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en-US" altLang="ja-JP" dirty="0"/>
                  <a:t>π</a:t>
                </a:r>
                <a:r>
                  <a:rPr lang="en-US" altLang="ja-JP" dirty="0"/>
                  <a:t>; </a:t>
                </a:r>
                <a:r>
                  <a:rPr lang="en-US" altLang="ja-JP" dirty="0" err="1"/>
                  <a:t>tanθ</a:t>
                </a:r>
                <a:r>
                  <a:rPr lang="en-US" altLang="ja-JP" dirty="0"/>
                  <a:t> = </a:t>
                </a:r>
                <a:r>
                  <a:rPr lang="ja-JP" altLang="en-US" dirty="0" err="1"/>
                  <a:t>ｰ</a:t>
                </a:r>
                <a:r>
                  <a:rPr lang="en-US" altLang="ja-JP" dirty="0"/>
                  <a:t>1</a:t>
                </a:r>
                <a:endParaRPr kumimoji="1" lang="en-US" altLang="ja-JP" dirty="0"/>
              </a:p>
            </p:txBody>
          </p:sp>
        </mc:Choice>
        <mc:Fallback xmlns="">
          <p:sp>
            <p:nvSpPr>
              <p:cNvPr id="51" name="テキスト ボックス 5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6719" y="5095875"/>
                <a:ext cx="2610395" cy="396199"/>
              </a:xfrm>
              <a:prstGeom prst="rect">
                <a:avLst/>
              </a:prstGeom>
              <a:blipFill>
                <a:blip r:embed="rId11"/>
                <a:stretch>
                  <a:fillRect l="-1860" t="-11940" r="-698" b="-1641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テキスト ボックス 51"/>
              <p:cNvSpPr txBox="1"/>
              <p:nvPr/>
            </p:nvSpPr>
            <p:spPr>
              <a:xfrm>
                <a:off x="5562600" y="5495925"/>
                <a:ext cx="2774799" cy="39748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/>
                  <a:t>θ</a:t>
                </a:r>
                <a:r>
                  <a:rPr lang="ja-JP" altLang="en-US" dirty="0"/>
                  <a:t> </a:t>
                </a:r>
                <a:r>
                  <a:rPr kumimoji="1" lang="en-US" altLang="ja-JP" dirty="0"/>
                  <a:t>=</a:t>
                </a:r>
                <a:r>
                  <a:rPr kumimoji="1" lang="ja-JP" altLang="en-US" dirty="0"/>
                  <a:t> </a:t>
                </a:r>
                <a:r>
                  <a:rPr kumimoji="1" lang="en-US" altLang="ja-JP" dirty="0"/>
                  <a:t>300°</a:t>
                </a:r>
                <a:r>
                  <a:rPr kumimoji="1" lang="ja-JP" altLang="en-US" dirty="0" err="1"/>
                  <a:t>、</a:t>
                </a:r>
                <a:r>
                  <a:rPr lang="ja-JP" altLang="en-US" dirty="0"/>
                  <a:t>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ja-JP" altLang="en-US" i="1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altLang="ja-JP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num>
                          <m:den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e>
                    </m:box>
                  </m:oMath>
                </a14:m>
                <a:r>
                  <a:rPr kumimoji="1" lang="en-US" altLang="ja-JP" dirty="0"/>
                  <a:t>π</a:t>
                </a:r>
                <a:r>
                  <a:rPr lang="en-US" altLang="ja-JP" dirty="0"/>
                  <a:t>; </a:t>
                </a:r>
                <a:r>
                  <a:rPr lang="en-US" altLang="ja-JP" dirty="0" err="1"/>
                  <a:t>tanθ</a:t>
                </a:r>
                <a:r>
                  <a:rPr lang="en-US" altLang="ja-JP" dirty="0"/>
                  <a:t> = </a:t>
                </a:r>
                <a:r>
                  <a:rPr lang="ja-JP" altLang="en-US" dirty="0" err="1"/>
                  <a:t>ｰ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ja-JP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ja-JP" i="1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</m:oMath>
                </a14:m>
                <a:endParaRPr kumimoji="1" lang="en-US" altLang="ja-JP" dirty="0"/>
              </a:p>
            </p:txBody>
          </p:sp>
        </mc:Choice>
        <mc:Fallback xmlns="">
          <p:sp>
            <p:nvSpPr>
              <p:cNvPr id="52" name="テキスト ボックス 5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600" y="5495925"/>
                <a:ext cx="2774799" cy="397481"/>
              </a:xfrm>
              <a:prstGeom prst="rect">
                <a:avLst/>
              </a:prstGeom>
              <a:blipFill>
                <a:blip r:embed="rId12"/>
                <a:stretch>
                  <a:fillRect l="-1751" t="-10448" b="-1791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テキスト ボックス 52"/>
              <p:cNvSpPr txBox="1"/>
              <p:nvPr/>
            </p:nvSpPr>
            <p:spPr>
              <a:xfrm>
                <a:off x="670476" y="4379844"/>
                <a:ext cx="1585655" cy="72776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altLang="ja-JP" dirty="0"/>
                  <a:t>θ</a:t>
                </a:r>
                <a:r>
                  <a:rPr lang="ja-JP" altLang="en-US" dirty="0"/>
                  <a:t> </a:t>
                </a:r>
                <a:r>
                  <a:rPr kumimoji="1" lang="en-US" altLang="ja-JP" dirty="0"/>
                  <a:t>=</a:t>
                </a:r>
                <a:r>
                  <a:rPr kumimoji="1" lang="ja-JP" altLang="en-US" dirty="0"/>
                  <a:t> </a:t>
                </a:r>
                <a:r>
                  <a:rPr kumimoji="1" lang="en-US" altLang="ja-JP" dirty="0"/>
                  <a:t>210°</a:t>
                </a:r>
                <a:r>
                  <a:rPr kumimoji="1" lang="ja-JP" altLang="en-US" dirty="0" err="1"/>
                  <a:t>、</a:t>
                </a:r>
                <a:r>
                  <a:rPr lang="ja-JP" altLang="en-US" dirty="0"/>
                  <a:t>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ja-JP" altLang="en-US" i="1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altLang="ja-JP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num>
                          <m:den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6</m:t>
                            </m:r>
                          </m:den>
                        </m:f>
                      </m:e>
                    </m:box>
                  </m:oMath>
                </a14:m>
                <a:r>
                  <a:rPr kumimoji="1" lang="en-US" altLang="ja-JP" dirty="0"/>
                  <a:t>π</a:t>
                </a:r>
                <a:r>
                  <a:rPr lang="en-US" altLang="ja-JP" dirty="0"/>
                  <a:t>; </a:t>
                </a:r>
              </a:p>
              <a:p>
                <a:r>
                  <a:rPr lang="en-US" altLang="ja-JP" dirty="0" err="1"/>
                  <a:t>tanθ</a:t>
                </a:r>
                <a:r>
                  <a:rPr lang="en-US" altLang="ja-JP" dirty="0"/>
                  <a:t> =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ja-JP" altLang="en-US" i="1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r>
                          <m:rPr>
                            <m:brk m:alnAt="63"/>
                          </m:rPr>
                          <a:rPr lang="ja-JP" altLang="en-US" i="1" smtClean="0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altLang="ja-JP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rad>
                          </m:den>
                        </m:f>
                      </m:e>
                    </m:box>
                  </m:oMath>
                </a14:m>
                <a:endParaRPr kumimoji="1" lang="en-US" altLang="ja-JP" dirty="0"/>
              </a:p>
            </p:txBody>
          </p:sp>
        </mc:Choice>
        <mc:Fallback xmlns="">
          <p:sp>
            <p:nvSpPr>
              <p:cNvPr id="53" name="テキスト ボックス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476" y="4379844"/>
                <a:ext cx="1585655" cy="727763"/>
              </a:xfrm>
              <a:prstGeom prst="rect">
                <a:avLst/>
              </a:prstGeom>
              <a:blipFill>
                <a:blip r:embed="rId13"/>
                <a:stretch>
                  <a:fillRect l="-3053" t="-5738" r="-5344" b="-409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テキスト ボックス 53"/>
              <p:cNvSpPr txBox="1"/>
              <p:nvPr/>
            </p:nvSpPr>
            <p:spPr>
              <a:xfrm>
                <a:off x="273738" y="5105400"/>
                <a:ext cx="2464521" cy="39619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/>
                  <a:t>θ</a:t>
                </a:r>
                <a:r>
                  <a:rPr lang="ja-JP" altLang="en-US" dirty="0"/>
                  <a:t> </a:t>
                </a:r>
                <a:r>
                  <a:rPr kumimoji="1" lang="en-US" altLang="ja-JP" dirty="0"/>
                  <a:t>=</a:t>
                </a:r>
                <a:r>
                  <a:rPr kumimoji="1" lang="ja-JP" altLang="en-US" dirty="0"/>
                  <a:t> </a:t>
                </a:r>
                <a:r>
                  <a:rPr kumimoji="1" lang="en-US" altLang="ja-JP" dirty="0"/>
                  <a:t>225°</a:t>
                </a:r>
                <a:r>
                  <a:rPr kumimoji="1" lang="ja-JP" altLang="en-US" dirty="0" err="1"/>
                  <a:t>、</a:t>
                </a:r>
                <a:r>
                  <a:rPr lang="ja-JP" altLang="en-US" dirty="0"/>
                  <a:t>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ja-JP" altLang="en-US" i="1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altLang="ja-JP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num>
                          <m:den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box>
                  </m:oMath>
                </a14:m>
                <a:r>
                  <a:rPr kumimoji="1" lang="en-US" altLang="ja-JP" dirty="0"/>
                  <a:t>π</a:t>
                </a:r>
                <a:r>
                  <a:rPr lang="en-US" altLang="ja-JP" dirty="0"/>
                  <a:t>; </a:t>
                </a:r>
                <a:r>
                  <a:rPr lang="en-US" altLang="ja-JP" dirty="0" err="1"/>
                  <a:t>tanθ</a:t>
                </a:r>
                <a:r>
                  <a:rPr lang="en-US" altLang="ja-JP" dirty="0"/>
                  <a:t> = 1</a:t>
                </a:r>
                <a:endParaRPr kumimoji="1" lang="en-US" altLang="ja-JP" dirty="0"/>
              </a:p>
            </p:txBody>
          </p:sp>
        </mc:Choice>
        <mc:Fallback xmlns="">
          <p:sp>
            <p:nvSpPr>
              <p:cNvPr id="54" name="テキスト ボックス 5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738" y="5105400"/>
                <a:ext cx="2464521" cy="396199"/>
              </a:xfrm>
              <a:prstGeom prst="rect">
                <a:avLst/>
              </a:prstGeom>
              <a:blipFill>
                <a:blip r:embed="rId14"/>
                <a:stretch>
                  <a:fillRect l="-1970" t="-12121" b="-1666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テキスト ボックス 54"/>
              <p:cNvSpPr txBox="1"/>
              <p:nvPr/>
            </p:nvSpPr>
            <p:spPr>
              <a:xfrm>
                <a:off x="615396" y="5514975"/>
                <a:ext cx="2627322" cy="39748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/>
                  <a:t>θ</a:t>
                </a:r>
                <a:r>
                  <a:rPr lang="ja-JP" altLang="en-US" dirty="0"/>
                  <a:t> </a:t>
                </a:r>
                <a:r>
                  <a:rPr kumimoji="1" lang="en-US" altLang="ja-JP" dirty="0"/>
                  <a:t>=</a:t>
                </a:r>
                <a:r>
                  <a:rPr kumimoji="1" lang="ja-JP" altLang="en-US" dirty="0"/>
                  <a:t> </a:t>
                </a:r>
                <a:r>
                  <a:rPr kumimoji="1" lang="en-US" altLang="ja-JP" dirty="0"/>
                  <a:t>240°</a:t>
                </a:r>
                <a:r>
                  <a:rPr kumimoji="1" lang="ja-JP" altLang="en-US" dirty="0" err="1"/>
                  <a:t>、</a:t>
                </a:r>
                <a:r>
                  <a:rPr lang="ja-JP" altLang="en-US" dirty="0"/>
                  <a:t>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ja-JP" altLang="en-US" i="1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altLang="ja-JP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e>
                    </m:box>
                  </m:oMath>
                </a14:m>
                <a:r>
                  <a:rPr kumimoji="1" lang="en-US" altLang="ja-JP" dirty="0"/>
                  <a:t>π</a:t>
                </a:r>
                <a:r>
                  <a:rPr lang="en-US" altLang="ja-JP" dirty="0"/>
                  <a:t>; </a:t>
                </a:r>
                <a:r>
                  <a:rPr lang="en-US" altLang="ja-JP" dirty="0" err="1"/>
                  <a:t>tanθ</a:t>
                </a:r>
                <a:r>
                  <a:rPr lang="en-US" altLang="ja-JP" dirty="0"/>
                  <a:t>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ja-JP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ja-JP" i="1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</m:oMath>
                </a14:m>
                <a:endParaRPr kumimoji="1" lang="en-US" altLang="ja-JP" dirty="0"/>
              </a:p>
            </p:txBody>
          </p:sp>
        </mc:Choice>
        <mc:Fallback xmlns="">
          <p:sp>
            <p:nvSpPr>
              <p:cNvPr id="55" name="テキスト ボックス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396" y="5514975"/>
                <a:ext cx="2627322" cy="397481"/>
              </a:xfrm>
              <a:prstGeom prst="rect">
                <a:avLst/>
              </a:prstGeom>
              <a:blipFill>
                <a:blip r:embed="rId15"/>
                <a:stretch>
                  <a:fillRect l="-1848" t="-10448" b="-1791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テキスト ボックス 55"/>
              <p:cNvSpPr txBox="1"/>
              <p:nvPr/>
            </p:nvSpPr>
            <p:spPr>
              <a:xfrm>
                <a:off x="4400550" y="5895975"/>
                <a:ext cx="2818785" cy="39619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/>
                  <a:t>θ</a:t>
                </a:r>
                <a:r>
                  <a:rPr lang="ja-JP" altLang="en-US" dirty="0"/>
                  <a:t> </a:t>
                </a:r>
                <a:r>
                  <a:rPr kumimoji="1" lang="en-US" altLang="ja-JP" dirty="0"/>
                  <a:t>=</a:t>
                </a:r>
                <a:r>
                  <a:rPr kumimoji="1" lang="ja-JP" altLang="en-US" dirty="0"/>
                  <a:t> </a:t>
                </a:r>
                <a:r>
                  <a:rPr kumimoji="1" lang="en-US" altLang="ja-JP" dirty="0"/>
                  <a:t>270°</a:t>
                </a:r>
                <a:r>
                  <a:rPr kumimoji="1" lang="ja-JP" altLang="en-US" dirty="0" err="1"/>
                  <a:t>、</a:t>
                </a:r>
                <a:r>
                  <a:rPr lang="en-US" altLang="ja-JP" dirty="0"/>
                  <a:t>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altLang="ja-JP" i="1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altLang="ja-JP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box>
                  </m:oMath>
                </a14:m>
                <a:r>
                  <a:rPr kumimoji="1" lang="en-US" altLang="ja-JP" dirty="0"/>
                  <a:t>π</a:t>
                </a:r>
                <a:r>
                  <a:rPr lang="en-US" altLang="ja-JP"/>
                  <a:t>; tan</a:t>
                </a:r>
                <a:r>
                  <a:rPr lang="el-GR" altLang="ja-JP"/>
                  <a:t>θ </a:t>
                </a:r>
                <a:r>
                  <a:rPr lang="ja-JP" altLang="en-US"/>
                  <a:t>未定義</a:t>
                </a:r>
                <a:endParaRPr kumimoji="1" lang="en-US" altLang="ja-JP" dirty="0"/>
              </a:p>
            </p:txBody>
          </p:sp>
        </mc:Choice>
        <mc:Fallback xmlns="">
          <p:sp>
            <p:nvSpPr>
              <p:cNvPr id="56" name="テキスト ボックス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0550" y="5895975"/>
                <a:ext cx="2818785" cy="396199"/>
              </a:xfrm>
              <a:prstGeom prst="rect">
                <a:avLst/>
              </a:prstGeom>
              <a:blipFill>
                <a:blip r:embed="rId16"/>
                <a:stretch>
                  <a:fillRect l="-1724" t="-10448" r="-862" b="-1641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テキスト ボックス 56"/>
          <p:cNvSpPr txBox="1"/>
          <p:nvPr/>
        </p:nvSpPr>
        <p:spPr>
          <a:xfrm>
            <a:off x="8448675" y="3362325"/>
            <a:ext cx="7575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cosθ</a:t>
            </a:r>
            <a:endParaRPr kumimoji="1" lang="ja-JP" altLang="en-US" sz="2400" dirty="0"/>
          </a:p>
        </p:txBody>
      </p:sp>
      <p:sp>
        <p:nvSpPr>
          <p:cNvPr id="58" name="テキスト ボックス 57"/>
          <p:cNvSpPr txBox="1"/>
          <p:nvPr/>
        </p:nvSpPr>
        <p:spPr>
          <a:xfrm>
            <a:off x="3743325" y="190500"/>
            <a:ext cx="7008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sinθ</a:t>
            </a:r>
            <a:endParaRPr kumimoji="1" lang="ja-JP" altLang="en-US" sz="2400" dirty="0"/>
          </a:p>
        </p:txBody>
      </p:sp>
      <p:cxnSp>
        <p:nvCxnSpPr>
          <p:cNvPr id="60" name="直線コネクタ 59"/>
          <p:cNvCxnSpPr/>
          <p:nvPr/>
        </p:nvCxnSpPr>
        <p:spPr>
          <a:xfrm>
            <a:off x="6415089" y="2293144"/>
            <a:ext cx="0" cy="2359819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線コネクタ 60"/>
          <p:cNvCxnSpPr/>
          <p:nvPr/>
        </p:nvCxnSpPr>
        <p:spPr>
          <a:xfrm>
            <a:off x="6043613" y="1819275"/>
            <a:ext cx="0" cy="329057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コネクタ 61"/>
          <p:cNvCxnSpPr/>
          <p:nvPr/>
        </p:nvCxnSpPr>
        <p:spPr>
          <a:xfrm>
            <a:off x="2376490" y="2300286"/>
            <a:ext cx="0" cy="23455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コネクタ 67"/>
          <p:cNvCxnSpPr/>
          <p:nvPr/>
        </p:nvCxnSpPr>
        <p:spPr>
          <a:xfrm>
            <a:off x="2747963" y="1828800"/>
            <a:ext cx="0" cy="329057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コネクタ 68"/>
          <p:cNvCxnSpPr/>
          <p:nvPr/>
        </p:nvCxnSpPr>
        <p:spPr>
          <a:xfrm>
            <a:off x="3238500" y="1438275"/>
            <a:ext cx="0" cy="40386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コネクタ 71"/>
          <p:cNvCxnSpPr/>
          <p:nvPr/>
        </p:nvCxnSpPr>
        <p:spPr>
          <a:xfrm>
            <a:off x="5572125" y="1438275"/>
            <a:ext cx="0" cy="40386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コネクタ 72"/>
          <p:cNvCxnSpPr/>
          <p:nvPr/>
        </p:nvCxnSpPr>
        <p:spPr>
          <a:xfrm rot="5400000">
            <a:off x="4405314" y="4302920"/>
            <a:ext cx="0" cy="2359819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コネクタ 73"/>
          <p:cNvCxnSpPr/>
          <p:nvPr/>
        </p:nvCxnSpPr>
        <p:spPr>
          <a:xfrm rot="5400000">
            <a:off x="4395789" y="254799"/>
            <a:ext cx="0" cy="2359819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コネクタ 74"/>
          <p:cNvCxnSpPr/>
          <p:nvPr/>
        </p:nvCxnSpPr>
        <p:spPr>
          <a:xfrm rot="16200000">
            <a:off x="4395788" y="171450"/>
            <a:ext cx="0" cy="329057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線コネクタ 75"/>
          <p:cNvCxnSpPr/>
          <p:nvPr/>
        </p:nvCxnSpPr>
        <p:spPr>
          <a:xfrm rot="16200000">
            <a:off x="4405313" y="3467100"/>
            <a:ext cx="0" cy="329057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線コネクタ 76"/>
          <p:cNvCxnSpPr/>
          <p:nvPr/>
        </p:nvCxnSpPr>
        <p:spPr>
          <a:xfrm rot="16200000">
            <a:off x="4391025" y="285750"/>
            <a:ext cx="0" cy="40386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コネクタ 77"/>
          <p:cNvCxnSpPr/>
          <p:nvPr/>
        </p:nvCxnSpPr>
        <p:spPr>
          <a:xfrm rot="16200000">
            <a:off x="4400550" y="2609850"/>
            <a:ext cx="0" cy="40386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角丸四角形 78"/>
              <p:cNvSpPr/>
              <p:nvPr/>
            </p:nvSpPr>
            <p:spPr>
              <a:xfrm>
                <a:off x="4096163" y="2176044"/>
                <a:ext cx="600077" cy="392962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x>
                        <m:boxPr>
                          <m:ctrlPr>
                            <a:rPr kumimoji="1" lang="ja-JP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kumimoji="1" lang="en-US" altLang="ja-JP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ja-JP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ja-JP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</m:oMath>
                  </m:oMathPara>
                </a14:m>
                <a:endParaRPr kumimoji="1" lang="ja-JP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9" name="角丸四角形 7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6163" y="2176044"/>
                <a:ext cx="600077" cy="392962"/>
              </a:xfrm>
              <a:prstGeom prst="roundRect">
                <a:avLst/>
              </a:prstGeom>
              <a:blipFill>
                <a:blip r:embed="rId17"/>
                <a:stretch>
                  <a:fillRect b="-298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角丸四角形 85"/>
              <p:cNvSpPr/>
              <p:nvPr/>
            </p:nvSpPr>
            <p:spPr>
              <a:xfrm>
                <a:off x="4076782" y="1666876"/>
                <a:ext cx="619458" cy="434805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x>
                        <m:boxPr>
                          <m:ctrlPr>
                            <a:rPr kumimoji="1" lang="ja-JP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kumimoji="1" lang="en-US" altLang="ja-JP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ja-JP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kumimoji="1" lang="en-US" altLang="ja-JP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ja-JP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</m:e>
                      </m:box>
                    </m:oMath>
                  </m:oMathPara>
                </a14:m>
                <a:endParaRPr kumimoji="1" lang="ja-JP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6" name="角丸四角形 8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6782" y="1666876"/>
                <a:ext cx="619458" cy="434805"/>
              </a:xfrm>
              <a:prstGeom prst="roundRect">
                <a:avLst/>
              </a:prstGeom>
              <a:blipFill>
                <a:blip r:embed="rId18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角丸四角形 88"/>
              <p:cNvSpPr/>
              <p:nvPr/>
            </p:nvSpPr>
            <p:spPr>
              <a:xfrm>
                <a:off x="4067174" y="1193203"/>
                <a:ext cx="619457" cy="436427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x>
                        <m:boxPr>
                          <m:ctrlPr>
                            <a:rPr kumimoji="1" lang="ja-JP" alt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kumimoji="1" lang="en-US" altLang="ja-JP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ad>
                                <m:radPr>
                                  <m:degHide m:val="on"/>
                                  <m:ctrlPr>
                                    <a:rPr kumimoji="1" lang="en-US" altLang="ja-JP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ja-JP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rad>
                            </m:num>
                            <m:den>
                              <m:r>
                                <a:rPr lang="en-US" altLang="ja-JP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</m:oMath>
                  </m:oMathPara>
                </a14:m>
                <a:endParaRPr kumimoji="1" lang="ja-JP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9" name="角丸四角形 8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174" y="1193203"/>
                <a:ext cx="619457" cy="436427"/>
              </a:xfrm>
              <a:prstGeom prst="roundRect">
                <a:avLst/>
              </a:prstGeom>
              <a:blipFill>
                <a:blip r:embed="rId19"/>
                <a:stretch>
                  <a:fillRect b="-4054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3" name="テキスト ボックス 92"/>
          <p:cNvSpPr txBox="1"/>
          <p:nvPr/>
        </p:nvSpPr>
        <p:spPr>
          <a:xfrm>
            <a:off x="-9525" y="19050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三角比一覧</a:t>
            </a:r>
          </a:p>
        </p:txBody>
      </p:sp>
      <p:sp>
        <p:nvSpPr>
          <p:cNvPr id="95" name="テキスト ボックス 94"/>
          <p:cNvSpPr txBox="1"/>
          <p:nvPr/>
        </p:nvSpPr>
        <p:spPr>
          <a:xfrm>
            <a:off x="6962775" y="3467100"/>
            <a:ext cx="14574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/>
              <a:t>θ</a:t>
            </a:r>
            <a:r>
              <a:rPr lang="ja-JP" altLang="en-US" dirty="0"/>
              <a:t> </a:t>
            </a:r>
            <a:r>
              <a:rPr kumimoji="1" lang="en-US" altLang="ja-JP" dirty="0"/>
              <a:t>=360°</a:t>
            </a:r>
            <a:r>
              <a:rPr kumimoji="1" lang="ja-JP" altLang="en-US" dirty="0" err="1"/>
              <a:t>、</a:t>
            </a:r>
            <a:r>
              <a:rPr kumimoji="1" lang="en-US" altLang="ja-JP" dirty="0"/>
              <a:t>2π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角丸四角形 88">
                <a:extLst>
                  <a:ext uri="{FF2B5EF4-FFF2-40B4-BE49-F238E27FC236}">
                    <a16:creationId xmlns:a16="http://schemas.microsoft.com/office/drawing/2014/main" id="{9E1E6BDA-7F14-479D-B2F4-A54DAEE67974}"/>
                  </a:ext>
                </a:extLst>
              </p:cNvPr>
              <p:cNvSpPr/>
              <p:nvPr/>
            </p:nvSpPr>
            <p:spPr>
              <a:xfrm>
                <a:off x="6107283" y="2776967"/>
                <a:ext cx="619457" cy="436427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x>
                        <m:boxPr>
                          <m:ctrlPr>
                            <a:rPr kumimoji="1" lang="ja-JP" alt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kumimoji="1" lang="en-US" altLang="ja-JP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ad>
                                <m:radPr>
                                  <m:degHide m:val="on"/>
                                  <m:ctrlPr>
                                    <a:rPr kumimoji="1" lang="en-US" altLang="ja-JP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ja-JP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rad>
                            </m:num>
                            <m:den>
                              <m:r>
                                <a:rPr lang="en-US" altLang="ja-JP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</m:oMath>
                  </m:oMathPara>
                </a14:m>
                <a:endParaRPr kumimoji="1" lang="ja-JP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3" name="角丸四角形 88">
                <a:extLst>
                  <a:ext uri="{FF2B5EF4-FFF2-40B4-BE49-F238E27FC236}">
                    <a16:creationId xmlns:a16="http://schemas.microsoft.com/office/drawing/2014/main" id="{9E1E6BDA-7F14-479D-B2F4-A54DAEE6797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7283" y="2776967"/>
                <a:ext cx="619457" cy="436427"/>
              </a:xfrm>
              <a:prstGeom prst="roundRect">
                <a:avLst/>
              </a:prstGeom>
              <a:blipFill>
                <a:blip r:embed="rId20"/>
                <a:stretch>
                  <a:fillRect b="-4054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角丸四角形 85">
                <a:extLst>
                  <a:ext uri="{FF2B5EF4-FFF2-40B4-BE49-F238E27FC236}">
                    <a16:creationId xmlns:a16="http://schemas.microsoft.com/office/drawing/2014/main" id="{6E589B72-7FA8-4AE4-81DB-F5E60265EB9D}"/>
                  </a:ext>
                </a:extLst>
              </p:cNvPr>
              <p:cNvSpPr/>
              <p:nvPr/>
            </p:nvSpPr>
            <p:spPr>
              <a:xfrm>
                <a:off x="5751718" y="3539585"/>
                <a:ext cx="619458" cy="434805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x>
                        <m:boxPr>
                          <m:ctrlPr>
                            <a:rPr kumimoji="1" lang="ja-JP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kumimoji="1" lang="en-US" altLang="ja-JP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ja-JP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kumimoji="1" lang="en-US" altLang="ja-JP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ja-JP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</m:e>
                      </m:box>
                    </m:oMath>
                  </m:oMathPara>
                </a14:m>
                <a:endParaRPr kumimoji="1" lang="ja-JP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4" name="角丸四角形 85">
                <a:extLst>
                  <a:ext uri="{FF2B5EF4-FFF2-40B4-BE49-F238E27FC236}">
                    <a16:creationId xmlns:a16="http://schemas.microsoft.com/office/drawing/2014/main" id="{6E589B72-7FA8-4AE4-81DB-F5E60265EB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1718" y="3539585"/>
                <a:ext cx="619458" cy="434805"/>
              </a:xfrm>
              <a:prstGeom prst="roundRect">
                <a:avLst/>
              </a:prstGeom>
              <a:blipFill>
                <a:blip r:embed="rId21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角丸四角形 78">
                <a:extLst>
                  <a:ext uri="{FF2B5EF4-FFF2-40B4-BE49-F238E27FC236}">
                    <a16:creationId xmlns:a16="http://schemas.microsoft.com/office/drawing/2014/main" id="{17DF9E45-5481-4DCA-842D-F77DC83F0BE9}"/>
                  </a:ext>
                </a:extLst>
              </p:cNvPr>
              <p:cNvSpPr/>
              <p:nvPr/>
            </p:nvSpPr>
            <p:spPr>
              <a:xfrm>
                <a:off x="5282253" y="2985227"/>
                <a:ext cx="600077" cy="392962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x>
                        <m:boxPr>
                          <m:ctrlPr>
                            <a:rPr kumimoji="1" lang="ja-JP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kumimoji="1" lang="en-US" altLang="ja-JP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ja-JP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ja-JP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</m:oMath>
                  </m:oMathPara>
                </a14:m>
                <a:endParaRPr kumimoji="1" lang="ja-JP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5" name="角丸四角形 78">
                <a:extLst>
                  <a:ext uri="{FF2B5EF4-FFF2-40B4-BE49-F238E27FC236}">
                    <a16:creationId xmlns:a16="http://schemas.microsoft.com/office/drawing/2014/main" id="{17DF9E45-5481-4DCA-842D-F77DC83F0B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2253" y="2985227"/>
                <a:ext cx="600077" cy="392962"/>
              </a:xfrm>
              <a:prstGeom prst="roundRect">
                <a:avLst/>
              </a:prstGeom>
              <a:blipFill>
                <a:blip r:embed="rId22"/>
                <a:stretch>
                  <a:fillRect b="-298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角丸四角形 78">
                <a:extLst>
                  <a:ext uri="{FF2B5EF4-FFF2-40B4-BE49-F238E27FC236}">
                    <a16:creationId xmlns:a16="http://schemas.microsoft.com/office/drawing/2014/main" id="{1D8112B3-A3C5-4515-BFFB-113288CA08FF}"/>
                  </a:ext>
                </a:extLst>
              </p:cNvPr>
              <p:cNvSpPr/>
              <p:nvPr/>
            </p:nvSpPr>
            <p:spPr>
              <a:xfrm>
                <a:off x="2966421" y="3462483"/>
                <a:ext cx="600077" cy="392962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ja-JP" altLang="en-US" dirty="0">
                    <a:solidFill>
                      <a:schemeClr val="tx1"/>
                    </a:solidFill>
                  </a:rPr>
                  <a:t>ｰ</a:t>
                </a:r>
                <a14:m>
                  <m:oMath xmlns:m="http://schemas.openxmlformats.org/officeDocument/2006/math">
                    <m:box>
                      <m:boxPr>
                        <m:ctrlPr>
                          <a:rPr kumimoji="1" lang="ja-JP" alt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kumimoji="1" lang="en-US" altLang="ja-JP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ja-JP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box>
                  </m:oMath>
                </a14:m>
                <a:endParaRPr kumimoji="1" lang="ja-JP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6" name="角丸四角形 78">
                <a:extLst>
                  <a:ext uri="{FF2B5EF4-FFF2-40B4-BE49-F238E27FC236}">
                    <a16:creationId xmlns:a16="http://schemas.microsoft.com/office/drawing/2014/main" id="{1D8112B3-A3C5-4515-BFFB-113288CA08F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421" y="3462483"/>
                <a:ext cx="600077" cy="392962"/>
              </a:xfrm>
              <a:prstGeom prst="roundRect">
                <a:avLst/>
              </a:prstGeom>
              <a:blipFill>
                <a:blip r:embed="rId23"/>
                <a:stretch>
                  <a:fillRect t="-10448" b="-10448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角丸四角形 85">
                <a:extLst>
                  <a:ext uri="{FF2B5EF4-FFF2-40B4-BE49-F238E27FC236}">
                    <a16:creationId xmlns:a16="http://schemas.microsoft.com/office/drawing/2014/main" id="{6674F00D-0C2A-47C7-86CB-FAF9B3C986AD}"/>
                  </a:ext>
                </a:extLst>
              </p:cNvPr>
              <p:cNvSpPr/>
              <p:nvPr/>
            </p:nvSpPr>
            <p:spPr>
              <a:xfrm>
                <a:off x="2469892" y="2810114"/>
                <a:ext cx="619458" cy="538474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ja-JP" altLang="en-US" dirty="0">
                    <a:solidFill>
                      <a:schemeClr val="tx1"/>
                    </a:solidFill>
                  </a:rPr>
                  <a:t>ｰ</a:t>
                </a:r>
                <a14:m>
                  <m:oMath xmlns:m="http://schemas.openxmlformats.org/officeDocument/2006/math">
                    <m:box>
                      <m:boxPr>
                        <m:ctrlPr>
                          <a:rPr kumimoji="1" lang="ja-JP" alt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kumimoji="1" lang="en-US" altLang="ja-JP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kumimoji="1" lang="en-US" altLang="ja-JP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ja-JP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</m:e>
                    </m:box>
                  </m:oMath>
                </a14:m>
                <a:endParaRPr kumimoji="1" lang="ja-JP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角丸四角形 85">
                <a:extLst>
                  <a:ext uri="{FF2B5EF4-FFF2-40B4-BE49-F238E27FC236}">
                    <a16:creationId xmlns:a16="http://schemas.microsoft.com/office/drawing/2014/main" id="{6674F00D-0C2A-47C7-86CB-FAF9B3C986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9892" y="2810114"/>
                <a:ext cx="619458" cy="538474"/>
              </a:xfrm>
              <a:prstGeom prst="roundRect">
                <a:avLst/>
              </a:prstGeom>
              <a:blipFill>
                <a:blip r:embed="rId2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角丸四角形 88">
                <a:extLst>
                  <a:ext uri="{FF2B5EF4-FFF2-40B4-BE49-F238E27FC236}">
                    <a16:creationId xmlns:a16="http://schemas.microsoft.com/office/drawing/2014/main" id="{3668E23C-1FFA-4B0B-9DDC-58A72778DAF7}"/>
                  </a:ext>
                </a:extLst>
              </p:cNvPr>
              <p:cNvSpPr/>
              <p:nvPr/>
            </p:nvSpPr>
            <p:spPr>
              <a:xfrm>
                <a:off x="2050095" y="3502566"/>
                <a:ext cx="631961" cy="436427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x>
                        <m:boxPr>
                          <m:ctrlPr>
                            <a:rPr kumimoji="1" lang="ja-JP" alt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r>
                            <m:rPr>
                              <m:nor/>
                            </m:rPr>
                            <a:rPr lang="ja-JP" altLang="en-US" dirty="0">
                              <a:solidFill>
                                <a:schemeClr val="tx1"/>
                              </a:solidFill>
                            </a:rPr>
                            <m:t>ｰ</m:t>
                          </m:r>
                          <m:f>
                            <m:fPr>
                              <m:ctrlPr>
                                <a:rPr kumimoji="1" lang="en-US" altLang="ja-JP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ad>
                                <m:radPr>
                                  <m:degHide m:val="on"/>
                                  <m:ctrlPr>
                                    <a:rPr kumimoji="1" lang="en-US" altLang="ja-JP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ja-JP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rad>
                            </m:num>
                            <m:den>
                              <m:r>
                                <a:rPr lang="en-US" altLang="ja-JP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</m:oMath>
                  </m:oMathPara>
                </a14:m>
                <a:endParaRPr kumimoji="1" lang="ja-JP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0" name="角丸四角形 88">
                <a:extLst>
                  <a:ext uri="{FF2B5EF4-FFF2-40B4-BE49-F238E27FC236}">
                    <a16:creationId xmlns:a16="http://schemas.microsoft.com/office/drawing/2014/main" id="{3668E23C-1FFA-4B0B-9DDC-58A72778DA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0095" y="3502566"/>
                <a:ext cx="631961" cy="436427"/>
              </a:xfrm>
              <a:prstGeom prst="roundRect">
                <a:avLst/>
              </a:prstGeom>
              <a:blipFill>
                <a:blip r:embed="rId25"/>
                <a:stretch>
                  <a:fillRect b="-4054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角丸四角形 78">
                <a:extLst>
                  <a:ext uri="{FF2B5EF4-FFF2-40B4-BE49-F238E27FC236}">
                    <a16:creationId xmlns:a16="http://schemas.microsoft.com/office/drawing/2014/main" id="{BD5AEDA3-44AC-4759-9F44-149676123A29}"/>
                  </a:ext>
                </a:extLst>
              </p:cNvPr>
              <p:cNvSpPr/>
              <p:nvPr/>
            </p:nvSpPr>
            <p:spPr>
              <a:xfrm>
                <a:off x="4099810" y="4359999"/>
                <a:ext cx="600077" cy="392962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ja-JP" altLang="en-US" dirty="0">
                    <a:solidFill>
                      <a:schemeClr val="tx1"/>
                    </a:solidFill>
                  </a:rPr>
                  <a:t>ｰ</a:t>
                </a:r>
                <a14:m>
                  <m:oMath xmlns:m="http://schemas.openxmlformats.org/officeDocument/2006/math">
                    <m:box>
                      <m:boxPr>
                        <m:ctrlPr>
                          <a:rPr kumimoji="1" lang="ja-JP" alt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kumimoji="1" lang="en-US" altLang="ja-JP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ja-JP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box>
                  </m:oMath>
                </a14:m>
                <a:endParaRPr kumimoji="1" lang="ja-JP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1" name="角丸四角形 78">
                <a:extLst>
                  <a:ext uri="{FF2B5EF4-FFF2-40B4-BE49-F238E27FC236}">
                    <a16:creationId xmlns:a16="http://schemas.microsoft.com/office/drawing/2014/main" id="{BD5AEDA3-44AC-4759-9F44-149676123A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9810" y="4359999"/>
                <a:ext cx="600077" cy="392962"/>
              </a:xfrm>
              <a:prstGeom prst="roundRect">
                <a:avLst/>
              </a:prstGeom>
              <a:blipFill>
                <a:blip r:embed="rId26"/>
                <a:stretch>
                  <a:fillRect t="-10294" b="-8824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角丸四角形 85">
                <a:extLst>
                  <a:ext uri="{FF2B5EF4-FFF2-40B4-BE49-F238E27FC236}">
                    <a16:creationId xmlns:a16="http://schemas.microsoft.com/office/drawing/2014/main" id="{BA1FBF25-C518-4E7D-8726-9C8872E7442B}"/>
                  </a:ext>
                </a:extLst>
              </p:cNvPr>
              <p:cNvSpPr/>
              <p:nvPr/>
            </p:nvSpPr>
            <p:spPr>
              <a:xfrm>
                <a:off x="4093741" y="4781880"/>
                <a:ext cx="619458" cy="538474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ja-JP" altLang="en-US" dirty="0">
                    <a:solidFill>
                      <a:schemeClr val="tx1"/>
                    </a:solidFill>
                  </a:rPr>
                  <a:t>ｰ</a:t>
                </a:r>
                <a14:m>
                  <m:oMath xmlns:m="http://schemas.openxmlformats.org/officeDocument/2006/math">
                    <m:box>
                      <m:boxPr>
                        <m:ctrlPr>
                          <a:rPr kumimoji="1" lang="ja-JP" alt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kumimoji="1" lang="en-US" altLang="ja-JP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kumimoji="1" lang="en-US" altLang="ja-JP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ja-JP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</m:e>
                    </m:box>
                  </m:oMath>
                </a14:m>
                <a:endParaRPr kumimoji="1" lang="ja-JP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0" name="角丸四角形 85">
                <a:extLst>
                  <a:ext uri="{FF2B5EF4-FFF2-40B4-BE49-F238E27FC236}">
                    <a16:creationId xmlns:a16="http://schemas.microsoft.com/office/drawing/2014/main" id="{BA1FBF25-C518-4E7D-8726-9C8872E744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3741" y="4781880"/>
                <a:ext cx="619458" cy="538474"/>
              </a:xfrm>
              <a:prstGeom prst="roundRect">
                <a:avLst/>
              </a:prstGeom>
              <a:blipFill>
                <a:blip r:embed="rId27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角丸四角形 88">
                <a:extLst>
                  <a:ext uri="{FF2B5EF4-FFF2-40B4-BE49-F238E27FC236}">
                    <a16:creationId xmlns:a16="http://schemas.microsoft.com/office/drawing/2014/main" id="{3514BB42-E970-444F-B8BF-A3474DFA88CC}"/>
                  </a:ext>
                </a:extLst>
              </p:cNvPr>
              <p:cNvSpPr/>
              <p:nvPr/>
            </p:nvSpPr>
            <p:spPr>
              <a:xfrm>
                <a:off x="4083601" y="5334082"/>
                <a:ext cx="631563" cy="436427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x>
                        <m:boxPr>
                          <m:ctrlPr>
                            <a:rPr kumimoji="1" lang="ja-JP" alt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r>
                            <m:rPr>
                              <m:nor/>
                            </m:rPr>
                            <a:rPr lang="ja-JP" altLang="en-US" dirty="0">
                              <a:solidFill>
                                <a:schemeClr val="tx1"/>
                              </a:solidFill>
                            </a:rPr>
                            <m:t>ｰ</m:t>
                          </m:r>
                          <m:f>
                            <m:fPr>
                              <m:ctrlPr>
                                <a:rPr kumimoji="1" lang="en-US" altLang="ja-JP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ad>
                                <m:radPr>
                                  <m:degHide m:val="on"/>
                                  <m:ctrlPr>
                                    <a:rPr kumimoji="1" lang="en-US" altLang="ja-JP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ja-JP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rad>
                            </m:num>
                            <m:den>
                              <m:r>
                                <a:rPr lang="en-US" altLang="ja-JP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</m:oMath>
                  </m:oMathPara>
                </a14:m>
                <a:endParaRPr kumimoji="1" lang="ja-JP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1" name="角丸四角形 88">
                <a:extLst>
                  <a:ext uri="{FF2B5EF4-FFF2-40B4-BE49-F238E27FC236}">
                    <a16:creationId xmlns:a16="http://schemas.microsoft.com/office/drawing/2014/main" id="{3514BB42-E970-444F-B8BF-A3474DFA88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3601" y="5334082"/>
                <a:ext cx="631563" cy="436427"/>
              </a:xfrm>
              <a:prstGeom prst="roundRect">
                <a:avLst/>
              </a:prstGeom>
              <a:blipFill>
                <a:blip r:embed="rId28"/>
                <a:stretch>
                  <a:fillRect b="-2667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円/楕円 3"/>
          <p:cNvSpPr/>
          <p:nvPr/>
        </p:nvSpPr>
        <p:spPr>
          <a:xfrm>
            <a:off x="2301652" y="1124744"/>
            <a:ext cx="4680520" cy="468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" name="直線矢印コネクタ 4"/>
          <p:cNvCxnSpPr/>
          <p:nvPr/>
        </p:nvCxnSpPr>
        <p:spPr>
          <a:xfrm>
            <a:off x="317240" y="3465004"/>
            <a:ext cx="86400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矢印コネクタ 5"/>
          <p:cNvCxnSpPr/>
          <p:nvPr/>
        </p:nvCxnSpPr>
        <p:spPr>
          <a:xfrm flipV="1">
            <a:off x="4641912" y="368660"/>
            <a:ext cx="0" cy="61206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/>
          <p:cNvSpPr txBox="1"/>
          <p:nvPr/>
        </p:nvSpPr>
        <p:spPr>
          <a:xfrm>
            <a:off x="6939880" y="3388804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dirty="0"/>
              <a:t>1</a:t>
            </a:r>
            <a:endParaRPr kumimoji="1" lang="ja-JP" altLang="en-US" sz="2000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1869604" y="3429000"/>
            <a:ext cx="4796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 err="1"/>
              <a:t>ｰ</a:t>
            </a:r>
            <a:r>
              <a:rPr kumimoji="1" lang="en-US" altLang="ja-JP" sz="2000" dirty="0"/>
              <a:t>1</a:t>
            </a:r>
            <a:endParaRPr kumimoji="1" lang="ja-JP" altLang="en-US" sz="2000" dirty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4173860" y="5769260"/>
            <a:ext cx="4796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 err="1"/>
              <a:t>ｰ</a:t>
            </a:r>
            <a:r>
              <a:rPr kumimoji="1" lang="en-US" altLang="ja-JP" sz="2000" dirty="0"/>
              <a:t>1</a:t>
            </a:r>
            <a:endParaRPr kumimoji="1" lang="ja-JP" altLang="en-US" sz="2000" dirty="0"/>
          </a:p>
        </p:txBody>
      </p:sp>
      <p:sp>
        <p:nvSpPr>
          <p:cNvPr id="10" name="テキスト ボックス 9"/>
          <p:cNvSpPr txBox="1"/>
          <p:nvPr/>
        </p:nvSpPr>
        <p:spPr>
          <a:xfrm>
            <a:off x="4317876" y="728700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dirty="0"/>
              <a:t>1</a:t>
            </a:r>
            <a:endParaRPr kumimoji="1" lang="ja-JP" altLang="en-US" sz="2000" dirty="0"/>
          </a:p>
        </p:txBody>
      </p:sp>
      <p:cxnSp>
        <p:nvCxnSpPr>
          <p:cNvPr id="11" name="直線コネクタ 10"/>
          <p:cNvCxnSpPr/>
          <p:nvPr/>
        </p:nvCxnSpPr>
        <p:spPr>
          <a:xfrm rot="1800000" flipV="1">
            <a:off x="2302663" y="3468848"/>
            <a:ext cx="468000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/>
          <p:cNvCxnSpPr/>
          <p:nvPr/>
        </p:nvCxnSpPr>
        <p:spPr>
          <a:xfrm rot="9000000" flipV="1">
            <a:off x="2307425" y="3461446"/>
            <a:ext cx="468000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/>
          <p:cNvCxnSpPr/>
          <p:nvPr/>
        </p:nvCxnSpPr>
        <p:spPr>
          <a:xfrm rot="3600000" flipV="1">
            <a:off x="2302831" y="3465755"/>
            <a:ext cx="468000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/>
          <p:cNvCxnSpPr/>
          <p:nvPr/>
        </p:nvCxnSpPr>
        <p:spPr>
          <a:xfrm rot="7200000" flipV="1">
            <a:off x="2305496" y="3458327"/>
            <a:ext cx="468000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テキスト ボックス 32"/>
          <p:cNvSpPr txBox="1"/>
          <p:nvPr/>
        </p:nvSpPr>
        <p:spPr>
          <a:xfrm>
            <a:off x="8420100" y="3362325"/>
            <a:ext cx="5940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cos</a:t>
            </a:r>
            <a:endParaRPr kumimoji="1" lang="ja-JP" altLang="en-US" sz="2400" dirty="0"/>
          </a:p>
        </p:txBody>
      </p:sp>
      <p:sp>
        <p:nvSpPr>
          <p:cNvPr id="34" name="テキスト ボックス 33"/>
          <p:cNvSpPr txBox="1"/>
          <p:nvPr/>
        </p:nvSpPr>
        <p:spPr>
          <a:xfrm>
            <a:off x="4181475" y="323850"/>
            <a:ext cx="5373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sin</a:t>
            </a:r>
            <a:endParaRPr kumimoji="1" lang="ja-JP" altLang="en-US" sz="2400" dirty="0"/>
          </a:p>
        </p:txBody>
      </p:sp>
      <p:cxnSp>
        <p:nvCxnSpPr>
          <p:cNvPr id="35" name="直線コネクタ 34"/>
          <p:cNvCxnSpPr/>
          <p:nvPr/>
        </p:nvCxnSpPr>
        <p:spPr>
          <a:xfrm>
            <a:off x="6653214" y="2293144"/>
            <a:ext cx="0" cy="2359819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/>
          <p:cNvCxnSpPr/>
          <p:nvPr/>
        </p:nvCxnSpPr>
        <p:spPr>
          <a:xfrm>
            <a:off x="2614615" y="2300286"/>
            <a:ext cx="0" cy="23455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コネクタ 38"/>
          <p:cNvCxnSpPr/>
          <p:nvPr/>
        </p:nvCxnSpPr>
        <p:spPr>
          <a:xfrm>
            <a:off x="3476625" y="1438275"/>
            <a:ext cx="0" cy="40386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コネクタ 39"/>
          <p:cNvCxnSpPr/>
          <p:nvPr/>
        </p:nvCxnSpPr>
        <p:spPr>
          <a:xfrm>
            <a:off x="5810250" y="1438275"/>
            <a:ext cx="0" cy="40386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コネクタ 40"/>
          <p:cNvCxnSpPr/>
          <p:nvPr/>
        </p:nvCxnSpPr>
        <p:spPr>
          <a:xfrm rot="5400000">
            <a:off x="4643439" y="4302920"/>
            <a:ext cx="0" cy="2359819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コネクタ 41"/>
          <p:cNvCxnSpPr/>
          <p:nvPr/>
        </p:nvCxnSpPr>
        <p:spPr>
          <a:xfrm rot="5400000">
            <a:off x="4633914" y="254799"/>
            <a:ext cx="0" cy="2359819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コネクタ 44"/>
          <p:cNvCxnSpPr/>
          <p:nvPr/>
        </p:nvCxnSpPr>
        <p:spPr>
          <a:xfrm rot="16200000">
            <a:off x="4629150" y="285750"/>
            <a:ext cx="0" cy="40386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コネクタ 45"/>
          <p:cNvCxnSpPr/>
          <p:nvPr/>
        </p:nvCxnSpPr>
        <p:spPr>
          <a:xfrm rot="16200000">
            <a:off x="4638675" y="2609850"/>
            <a:ext cx="0" cy="40386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テキスト ボックス 58"/>
          <p:cNvSpPr txBox="1"/>
          <p:nvPr/>
        </p:nvSpPr>
        <p:spPr>
          <a:xfrm>
            <a:off x="228600" y="19050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三角比変換</a:t>
            </a:r>
          </a:p>
        </p:txBody>
      </p:sp>
      <p:sp>
        <p:nvSpPr>
          <p:cNvPr id="63" name="テキスト ボックス 62"/>
          <p:cNvSpPr txBox="1"/>
          <p:nvPr/>
        </p:nvSpPr>
        <p:spPr>
          <a:xfrm>
            <a:off x="4905375" y="319087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θ</a:t>
            </a:r>
            <a:endParaRPr kumimoji="1" lang="ja-JP" altLang="en-US" dirty="0"/>
          </a:p>
        </p:txBody>
      </p:sp>
      <p:sp>
        <p:nvSpPr>
          <p:cNvPr id="64" name="円弧 63"/>
          <p:cNvSpPr/>
          <p:nvPr/>
        </p:nvSpPr>
        <p:spPr>
          <a:xfrm>
            <a:off x="4800600" y="3333750"/>
            <a:ext cx="123825" cy="257175"/>
          </a:xfrm>
          <a:prstGeom prst="arc">
            <a:avLst/>
          </a:prstGeom>
          <a:ln w="19050" cmpd="dbl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左矢印 64"/>
              <p:cNvSpPr/>
              <p:nvPr/>
            </p:nvSpPr>
            <p:spPr>
              <a:xfrm>
                <a:off x="6686550" y="1933576"/>
                <a:ext cx="2270687" cy="704850"/>
              </a:xfrm>
              <a:prstGeom prst="leftArrow">
                <a:avLst/>
              </a:prstGeom>
              <a:solidFill>
                <a:schemeClr val="bg1">
                  <a:alpha val="7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角</a:t>
                </a:r>
                <a:r>
                  <a:rPr kumimoji="1" lang="en-US" altLang="ja-JP" dirty="0">
                    <a:solidFill>
                      <a:schemeClr val="tx1"/>
                    </a:solidFill>
                  </a:rPr>
                  <a:t>°:</a:t>
                </a:r>
                <a:r>
                  <a:rPr kumimoji="1" lang="ja-JP" altLang="en-US" dirty="0">
                    <a:solidFill>
                      <a:schemeClr val="tx1"/>
                    </a:solidFill>
                  </a:rPr>
                  <a:t> </a:t>
                </a:r>
                <a:r>
                  <a:rPr kumimoji="1" lang="en-US" altLang="ja-JP" dirty="0">
                    <a:solidFill>
                      <a:schemeClr val="tx1"/>
                    </a:solidFill>
                  </a:rPr>
                  <a:t>θ</a:t>
                </a:r>
                <a:r>
                  <a:rPr lang="en-US" altLang="ja-JP" dirty="0">
                    <a:solidFill>
                      <a:schemeClr val="tx1"/>
                    </a:solidFill>
                  </a:rPr>
                  <a:t>, </a:t>
                </a:r>
                <a:r>
                  <a:rPr lang="ja-JP" altLang="en-US" dirty="0">
                    <a:solidFill>
                      <a:schemeClr val="tx1"/>
                    </a:solidFill>
                  </a:rPr>
                  <a:t>傾き</a:t>
                </a:r>
                <a:r>
                  <a:rPr lang="en-US" altLang="ja-JP" dirty="0">
                    <a:solidFill>
                      <a:schemeClr val="tx1"/>
                    </a:solidFill>
                  </a:rPr>
                  <a:t>:</a:t>
                </a:r>
                <a:r>
                  <a:rPr lang="ja-JP" altLang="en-US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ja-JP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ja-JP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</m:fName>
                      <m:e>
                        <m:r>
                          <a:rPr lang="ja-JP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en-US" altLang="ja-JP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5" name="左矢印 6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6550" y="1933576"/>
                <a:ext cx="2270687" cy="704850"/>
              </a:xfrm>
              <a:prstGeom prst="leftArrow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左矢印 65"/>
              <p:cNvSpPr/>
              <p:nvPr/>
            </p:nvSpPr>
            <p:spPr>
              <a:xfrm>
                <a:off x="5838823" y="1085851"/>
                <a:ext cx="2752727" cy="704850"/>
              </a:xfrm>
              <a:prstGeom prst="leftArrow">
                <a:avLst/>
              </a:prstGeom>
              <a:solidFill>
                <a:schemeClr val="bg1">
                  <a:alpha val="7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角</a:t>
                </a:r>
                <a:r>
                  <a:rPr kumimoji="1" lang="en-US" altLang="ja-JP" dirty="0">
                    <a:solidFill>
                      <a:schemeClr val="tx1"/>
                    </a:solidFill>
                  </a:rPr>
                  <a:t>°:</a:t>
                </a:r>
                <a:r>
                  <a:rPr kumimoji="1" lang="ja-JP" altLang="en-US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kumimoji="1" lang="ja-JP" alt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kumimoji="1" lang="en-US" altLang="ja-JP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ja-JP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box>
                  </m:oMath>
                </a14:m>
                <a:r>
                  <a:rPr kumimoji="1" lang="en-US" altLang="ja-JP" dirty="0">
                    <a:solidFill>
                      <a:schemeClr val="tx1"/>
                    </a:solidFill>
                  </a:rPr>
                  <a:t>π-θ</a:t>
                </a:r>
                <a:r>
                  <a:rPr lang="en-US" altLang="ja-JP" dirty="0">
                    <a:solidFill>
                      <a:schemeClr val="tx1"/>
                    </a:solidFill>
                  </a:rPr>
                  <a:t>, </a:t>
                </a:r>
                <a:r>
                  <a:rPr lang="ja-JP" altLang="en-US" dirty="0">
                    <a:solidFill>
                      <a:schemeClr val="tx1"/>
                    </a:solidFill>
                  </a:rPr>
                  <a:t>傾き</a:t>
                </a:r>
                <a:r>
                  <a:rPr lang="en-US" altLang="ja-JP" dirty="0">
                    <a:solidFill>
                      <a:schemeClr val="tx1"/>
                    </a:solidFill>
                  </a:rPr>
                  <a:t>:</a:t>
                </a:r>
                <a:r>
                  <a:rPr lang="ja-JP" altLang="en-US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ja-JP" alt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altLang="ja-JP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𝑡𝑎𝑛</m:t>
                            </m:r>
                            <m:r>
                              <m:rPr>
                                <m:sty m:val="p"/>
                              </m:rPr>
                              <a:rPr lang="en-US" altLang="ja-JP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θ</m:t>
                            </m:r>
                          </m:den>
                        </m:f>
                      </m:e>
                    </m:box>
                  </m:oMath>
                </a14:m>
                <a:endParaRPr kumimoji="1" lang="ja-JP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6" name="左矢印 6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8823" y="1085851"/>
                <a:ext cx="2752727" cy="704850"/>
              </a:xfrm>
              <a:prstGeom prst="leftArrow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右矢印 67"/>
              <p:cNvSpPr/>
              <p:nvPr/>
            </p:nvSpPr>
            <p:spPr>
              <a:xfrm>
                <a:off x="523875" y="1104900"/>
                <a:ext cx="2924177" cy="704850"/>
              </a:xfrm>
              <a:prstGeom prst="rightArrow">
                <a:avLst/>
              </a:prstGeom>
              <a:solidFill>
                <a:schemeClr val="bg1">
                  <a:alpha val="7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ja-JP" altLang="en-US" dirty="0">
                    <a:solidFill>
                      <a:schemeClr val="tx1"/>
                    </a:solidFill>
                  </a:rPr>
                  <a:t>角</a:t>
                </a:r>
                <a:r>
                  <a:rPr lang="en-US" altLang="ja-JP" dirty="0">
                    <a:solidFill>
                      <a:schemeClr val="tx1"/>
                    </a:solidFill>
                  </a:rPr>
                  <a:t>°:</a:t>
                </a:r>
                <a:r>
                  <a:rPr lang="ja-JP" altLang="en-US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ja-JP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altLang="ja-JP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ja-JP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box>
                  </m:oMath>
                </a14:m>
                <a:r>
                  <a:rPr lang="en-US" altLang="ja-JP" dirty="0">
                    <a:solidFill>
                      <a:schemeClr val="tx1"/>
                    </a:solidFill>
                  </a:rPr>
                  <a:t>π+θ, </a:t>
                </a:r>
                <a:r>
                  <a:rPr lang="ja-JP" altLang="en-US" dirty="0">
                    <a:solidFill>
                      <a:schemeClr val="tx1"/>
                    </a:solidFill>
                  </a:rPr>
                  <a:t>傾き</a:t>
                </a:r>
                <a:r>
                  <a:rPr lang="en-US" altLang="ja-JP" dirty="0">
                    <a:solidFill>
                      <a:schemeClr val="tx1"/>
                    </a:solidFill>
                  </a:rPr>
                  <a:t>:</a:t>
                </a:r>
                <a:r>
                  <a:rPr lang="ja-JP" altLang="en-US" dirty="0">
                    <a:solidFill>
                      <a:schemeClr val="tx1"/>
                    </a:solidFill>
                  </a:rPr>
                  <a:t> </a:t>
                </a:r>
                <a:r>
                  <a:rPr lang="ja-JP" altLang="en-US" dirty="0" err="1">
                    <a:solidFill>
                      <a:schemeClr val="tx1"/>
                    </a:solidFill>
                  </a:rPr>
                  <a:t>ｰ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ja-JP" alt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altLang="ja-JP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𝑡𝑎𝑛</m:t>
                            </m:r>
                            <m:r>
                              <m:rPr>
                                <m:sty m:val="p"/>
                              </m:rPr>
                              <a:rPr lang="en-US" altLang="ja-JP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θ</m:t>
                            </m:r>
                          </m:den>
                        </m:f>
                      </m:e>
                    </m:box>
                  </m:oMath>
                </a14:m>
                <a:endParaRPr lang="ja-JP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右矢印 6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875" y="1104900"/>
                <a:ext cx="2924177" cy="704850"/>
              </a:xfrm>
              <a:prstGeom prst="rightArrow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右矢印 68"/>
              <p:cNvSpPr/>
              <p:nvPr/>
            </p:nvSpPr>
            <p:spPr>
              <a:xfrm>
                <a:off x="0" y="1943100"/>
                <a:ext cx="2619377" cy="704850"/>
              </a:xfrm>
              <a:prstGeom prst="rightArrow">
                <a:avLst/>
              </a:prstGeom>
              <a:solidFill>
                <a:schemeClr val="bg1">
                  <a:alpha val="7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ja-JP" altLang="en-US" dirty="0">
                    <a:solidFill>
                      <a:schemeClr val="tx1"/>
                    </a:solidFill>
                  </a:rPr>
                  <a:t>角</a:t>
                </a:r>
                <a:r>
                  <a:rPr lang="en-US" altLang="ja-JP" dirty="0">
                    <a:solidFill>
                      <a:schemeClr val="tx1"/>
                    </a:solidFill>
                  </a:rPr>
                  <a:t>°:</a:t>
                </a:r>
                <a:r>
                  <a:rPr lang="ja-JP" alt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altLang="ja-JP" dirty="0">
                    <a:solidFill>
                      <a:schemeClr val="tx1"/>
                    </a:solidFill>
                  </a:rPr>
                  <a:t>π-θ, </a:t>
                </a:r>
                <a:r>
                  <a:rPr lang="ja-JP" altLang="en-US" dirty="0">
                    <a:solidFill>
                      <a:schemeClr val="tx1"/>
                    </a:solidFill>
                  </a:rPr>
                  <a:t>傾き</a:t>
                </a:r>
                <a:r>
                  <a:rPr lang="en-US" altLang="ja-JP" dirty="0">
                    <a:solidFill>
                      <a:schemeClr val="tx1"/>
                    </a:solidFill>
                  </a:rPr>
                  <a:t>:</a:t>
                </a:r>
                <a:r>
                  <a:rPr lang="ja-JP" altLang="en-US" dirty="0">
                    <a:solidFill>
                      <a:schemeClr val="tx1"/>
                    </a:solidFill>
                  </a:rPr>
                  <a:t> </a:t>
                </a:r>
                <a:r>
                  <a:rPr lang="ja-JP" altLang="en-US" dirty="0" err="1">
                    <a:solidFill>
                      <a:schemeClr val="tx1"/>
                    </a:solidFill>
                  </a:rPr>
                  <a:t>ｰ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ja-JP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ja-JP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</m:fName>
                      <m:e>
                        <m:r>
                          <a:rPr lang="ja-JP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ja-JP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9" name="右矢印 6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943100"/>
                <a:ext cx="2619377" cy="704850"/>
              </a:xfrm>
              <a:prstGeom prst="rightArrow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左矢印 69"/>
              <p:cNvSpPr/>
              <p:nvPr/>
            </p:nvSpPr>
            <p:spPr>
              <a:xfrm>
                <a:off x="6677026" y="4295776"/>
                <a:ext cx="2447922" cy="704850"/>
              </a:xfrm>
              <a:prstGeom prst="leftArrow">
                <a:avLst/>
              </a:prstGeom>
              <a:solidFill>
                <a:schemeClr val="bg1">
                  <a:alpha val="7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角</a:t>
                </a:r>
                <a:r>
                  <a:rPr kumimoji="1" lang="en-US" altLang="ja-JP" dirty="0">
                    <a:solidFill>
                      <a:schemeClr val="tx1"/>
                    </a:solidFill>
                  </a:rPr>
                  <a:t>°:</a:t>
                </a:r>
                <a:r>
                  <a:rPr kumimoji="1" lang="ja-JP" alt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altLang="ja-JP" dirty="0">
                    <a:solidFill>
                      <a:schemeClr val="tx1"/>
                    </a:solidFill>
                  </a:rPr>
                  <a:t>-</a:t>
                </a:r>
                <a:r>
                  <a:rPr kumimoji="1" lang="en-US" altLang="ja-JP" dirty="0">
                    <a:solidFill>
                      <a:schemeClr val="tx1"/>
                    </a:solidFill>
                  </a:rPr>
                  <a:t>θ</a:t>
                </a:r>
                <a:r>
                  <a:rPr lang="en-US" altLang="ja-JP" dirty="0">
                    <a:solidFill>
                      <a:schemeClr val="tx1"/>
                    </a:solidFill>
                  </a:rPr>
                  <a:t>, </a:t>
                </a:r>
                <a:r>
                  <a:rPr lang="ja-JP" altLang="en-US" dirty="0">
                    <a:solidFill>
                      <a:schemeClr val="tx1"/>
                    </a:solidFill>
                  </a:rPr>
                  <a:t>傾き</a:t>
                </a:r>
                <a:r>
                  <a:rPr lang="en-US" altLang="ja-JP" dirty="0">
                    <a:solidFill>
                      <a:schemeClr val="tx1"/>
                    </a:solidFill>
                  </a:rPr>
                  <a:t>:</a:t>
                </a:r>
                <a:r>
                  <a:rPr lang="ja-JP" altLang="en-US" dirty="0">
                    <a:solidFill>
                      <a:schemeClr val="tx1"/>
                    </a:solidFill>
                  </a:rPr>
                  <a:t> </a:t>
                </a:r>
                <a:r>
                  <a:rPr lang="ja-JP" altLang="en-US" dirty="0" err="1">
                    <a:solidFill>
                      <a:schemeClr val="tx1"/>
                    </a:solidFill>
                  </a:rPr>
                  <a:t>ｰ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ja-JP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ja-JP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</m:fName>
                      <m:e>
                        <m:r>
                          <a:rPr lang="ja-JP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kumimoji="1" lang="ja-JP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0" name="左矢印 6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7026" y="4295776"/>
                <a:ext cx="2447922" cy="704850"/>
              </a:xfrm>
              <a:prstGeom prst="leftArrow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右矢印 70"/>
              <p:cNvSpPr/>
              <p:nvPr/>
            </p:nvSpPr>
            <p:spPr>
              <a:xfrm>
                <a:off x="114301" y="4295775"/>
                <a:ext cx="2495552" cy="704850"/>
              </a:xfrm>
              <a:prstGeom prst="rightArrow">
                <a:avLst/>
              </a:prstGeom>
              <a:solidFill>
                <a:schemeClr val="bg1">
                  <a:alpha val="7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ja-JP" altLang="en-US" dirty="0">
                    <a:solidFill>
                      <a:schemeClr val="tx1"/>
                    </a:solidFill>
                  </a:rPr>
                  <a:t>角</a:t>
                </a:r>
                <a:r>
                  <a:rPr lang="en-US" altLang="ja-JP" dirty="0">
                    <a:solidFill>
                      <a:schemeClr val="tx1"/>
                    </a:solidFill>
                  </a:rPr>
                  <a:t>°:</a:t>
                </a:r>
                <a:r>
                  <a:rPr lang="ja-JP" alt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altLang="ja-JP" dirty="0" err="1">
                    <a:solidFill>
                      <a:schemeClr val="tx1"/>
                    </a:solidFill>
                  </a:rPr>
                  <a:t>π+θ</a:t>
                </a:r>
                <a:r>
                  <a:rPr lang="en-US" altLang="ja-JP" dirty="0">
                    <a:solidFill>
                      <a:schemeClr val="tx1"/>
                    </a:solidFill>
                  </a:rPr>
                  <a:t>, </a:t>
                </a:r>
                <a:r>
                  <a:rPr lang="ja-JP" altLang="en-US" dirty="0">
                    <a:solidFill>
                      <a:schemeClr val="tx1"/>
                    </a:solidFill>
                  </a:rPr>
                  <a:t>傾き</a:t>
                </a:r>
                <a:r>
                  <a:rPr lang="en-US" altLang="ja-JP" dirty="0">
                    <a:solidFill>
                      <a:schemeClr val="tx1"/>
                    </a:solidFill>
                  </a:rPr>
                  <a:t>:</a:t>
                </a:r>
                <a:r>
                  <a:rPr lang="ja-JP" altLang="en-US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ja-JP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ja-JP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</m:fName>
                      <m:e>
                        <m:r>
                          <a:rPr lang="ja-JP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ja-JP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1" name="右矢印 7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01" y="4295775"/>
                <a:ext cx="2495552" cy="704850"/>
              </a:xfrm>
              <a:prstGeom prst="rightArrow">
                <a:avLst/>
              </a:prstGeom>
              <a:blipFill>
                <a:blip r:embed="rId7"/>
                <a:stretch>
                  <a:fillRect l="-726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右矢印 71"/>
              <p:cNvSpPr/>
              <p:nvPr/>
            </p:nvSpPr>
            <p:spPr>
              <a:xfrm>
                <a:off x="533400" y="5143500"/>
                <a:ext cx="2924177" cy="704850"/>
              </a:xfrm>
              <a:prstGeom prst="rightArrow">
                <a:avLst/>
              </a:prstGeom>
              <a:solidFill>
                <a:schemeClr val="bg1">
                  <a:alpha val="7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ja-JP" altLang="en-US" dirty="0">
                    <a:solidFill>
                      <a:schemeClr val="tx1"/>
                    </a:solidFill>
                  </a:rPr>
                  <a:t>角</a:t>
                </a:r>
                <a:r>
                  <a:rPr lang="en-US" altLang="ja-JP" dirty="0">
                    <a:solidFill>
                      <a:schemeClr val="tx1"/>
                    </a:solidFill>
                  </a:rPr>
                  <a:t>°:</a:t>
                </a:r>
                <a:r>
                  <a:rPr lang="ja-JP" altLang="en-US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altLang="ja-JP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altLang="ja-JP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US" altLang="ja-JP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box>
                  </m:oMath>
                </a14:m>
                <a:r>
                  <a:rPr lang="en-US" altLang="ja-JP" dirty="0">
                    <a:solidFill>
                      <a:schemeClr val="tx1"/>
                    </a:solidFill>
                  </a:rPr>
                  <a:t>π-θ, </a:t>
                </a:r>
                <a:r>
                  <a:rPr lang="ja-JP" altLang="en-US" dirty="0">
                    <a:solidFill>
                      <a:schemeClr val="tx1"/>
                    </a:solidFill>
                  </a:rPr>
                  <a:t>傾き</a:t>
                </a:r>
                <a:r>
                  <a:rPr lang="en-US" altLang="ja-JP" dirty="0">
                    <a:solidFill>
                      <a:schemeClr val="tx1"/>
                    </a:solidFill>
                  </a:rPr>
                  <a:t>:</a:t>
                </a:r>
                <a:r>
                  <a:rPr lang="ja-JP" altLang="en-US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altLang="ja-JP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altLang="ja-JP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ja-JP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𝑡𝑎𝑛</m:t>
                            </m:r>
                            <m:r>
                              <m:rPr>
                                <m:sty m:val="p"/>
                              </m:rPr>
                              <a:rPr lang="en-US" altLang="ja-JP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θ</m:t>
                            </m:r>
                          </m:den>
                        </m:f>
                      </m:e>
                    </m:box>
                  </m:oMath>
                </a14:m>
                <a:endParaRPr lang="ja-JP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2" name="右矢印 7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00" y="5143500"/>
                <a:ext cx="2924177" cy="704850"/>
              </a:xfrm>
              <a:prstGeom prst="rightArrow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左矢印 72"/>
              <p:cNvSpPr/>
              <p:nvPr/>
            </p:nvSpPr>
            <p:spPr>
              <a:xfrm>
                <a:off x="5829295" y="5143501"/>
                <a:ext cx="3057529" cy="704850"/>
              </a:xfrm>
              <a:prstGeom prst="leftArrow">
                <a:avLst/>
              </a:prstGeom>
              <a:solidFill>
                <a:schemeClr val="bg1">
                  <a:alpha val="7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dirty="0">
                    <a:solidFill>
                      <a:schemeClr val="tx1"/>
                    </a:solidFill>
                  </a:rPr>
                  <a:t>角</a:t>
                </a:r>
                <a:r>
                  <a:rPr kumimoji="1" lang="en-US" altLang="ja-JP" dirty="0">
                    <a:solidFill>
                      <a:schemeClr val="tx1"/>
                    </a:solidFill>
                  </a:rPr>
                  <a:t>°:</a:t>
                </a:r>
                <a:r>
                  <a:rPr kumimoji="1" lang="ja-JP" altLang="en-US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kumimoji="1" lang="ja-JP" alt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kumimoji="1" lang="en-US" altLang="ja-JP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US" altLang="ja-JP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box>
                  </m:oMath>
                </a14:m>
                <a:r>
                  <a:rPr kumimoji="1" lang="en-US" altLang="ja-JP" dirty="0">
                    <a:solidFill>
                      <a:schemeClr val="tx1"/>
                    </a:solidFill>
                  </a:rPr>
                  <a:t>π+θ</a:t>
                </a:r>
                <a:r>
                  <a:rPr lang="en-US" altLang="ja-JP" dirty="0">
                    <a:solidFill>
                      <a:schemeClr val="tx1"/>
                    </a:solidFill>
                  </a:rPr>
                  <a:t>, </a:t>
                </a:r>
                <a:r>
                  <a:rPr lang="ja-JP" altLang="en-US" dirty="0">
                    <a:solidFill>
                      <a:schemeClr val="tx1"/>
                    </a:solidFill>
                  </a:rPr>
                  <a:t>傾き</a:t>
                </a:r>
                <a:r>
                  <a:rPr lang="en-US" altLang="ja-JP" dirty="0">
                    <a:solidFill>
                      <a:schemeClr val="tx1"/>
                    </a:solidFill>
                  </a:rPr>
                  <a:t>:</a:t>
                </a:r>
                <a:r>
                  <a:rPr lang="ja-JP" altLang="en-US" dirty="0">
                    <a:solidFill>
                      <a:schemeClr val="tx1"/>
                    </a:solidFill>
                  </a:rPr>
                  <a:t> </a:t>
                </a:r>
                <a:r>
                  <a:rPr lang="ja-JP" altLang="en-US" dirty="0" err="1">
                    <a:solidFill>
                      <a:schemeClr val="tx1"/>
                    </a:solidFill>
                  </a:rPr>
                  <a:t>ｰ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ja-JP" alt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altLang="ja-JP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𝑡𝑎𝑛</m:t>
                            </m:r>
                            <m:r>
                              <m:rPr>
                                <m:sty m:val="p"/>
                              </m:rPr>
                              <a:rPr lang="en-US" altLang="ja-JP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θ</m:t>
                            </m:r>
                          </m:den>
                        </m:f>
                      </m:e>
                    </m:box>
                  </m:oMath>
                </a14:m>
                <a:endParaRPr kumimoji="1" lang="ja-JP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3" name="左矢印 7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9295" y="5143501"/>
                <a:ext cx="3057529" cy="704850"/>
              </a:xfrm>
              <a:prstGeom prst="leftArrow">
                <a:avLst/>
              </a:prstGeom>
              <a:blipFill>
                <a:blip r:embed="rId9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テキスト ボックス 73"/>
          <p:cNvSpPr txBox="1"/>
          <p:nvPr/>
        </p:nvSpPr>
        <p:spPr>
          <a:xfrm>
            <a:off x="7105650" y="4743450"/>
            <a:ext cx="854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（</a:t>
            </a:r>
            <a:r>
              <a:rPr kumimoji="1" lang="en-US" altLang="ja-JP" dirty="0"/>
              <a:t>2π-θ</a:t>
            </a:r>
            <a:r>
              <a:rPr kumimoji="1" lang="ja-JP" altLang="en-US" dirty="0"/>
              <a:t>）</a:t>
            </a:r>
          </a:p>
        </p:txBody>
      </p:sp>
      <p:sp>
        <p:nvSpPr>
          <p:cNvPr id="75" name="正方形/長方形 74"/>
          <p:cNvSpPr/>
          <p:nvPr/>
        </p:nvSpPr>
        <p:spPr>
          <a:xfrm>
            <a:off x="6276975" y="3200400"/>
            <a:ext cx="657225" cy="238125"/>
          </a:xfrm>
          <a:prstGeom prst="rect">
            <a:avLst/>
          </a:prstGeom>
          <a:solidFill>
            <a:schemeClr val="bg1">
              <a:alpha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>
                <a:solidFill>
                  <a:schemeClr val="tx1"/>
                </a:solidFill>
              </a:rPr>
              <a:t>cosθ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76" name="角丸四角形 75"/>
          <p:cNvSpPr/>
          <p:nvPr/>
        </p:nvSpPr>
        <p:spPr>
          <a:xfrm>
            <a:off x="895350" y="523874"/>
            <a:ext cx="638175" cy="238125"/>
          </a:xfrm>
          <a:prstGeom prst="roundRect">
            <a:avLst>
              <a:gd name="adj" fmla="val 36667"/>
            </a:avLst>
          </a:prstGeom>
          <a:solidFill>
            <a:schemeClr val="bg1">
              <a:alpha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sinθ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80" name="正方形/長方形 79"/>
          <p:cNvSpPr/>
          <p:nvPr/>
        </p:nvSpPr>
        <p:spPr>
          <a:xfrm>
            <a:off x="2371725" y="3200400"/>
            <a:ext cx="685800" cy="238125"/>
          </a:xfrm>
          <a:prstGeom prst="rect">
            <a:avLst/>
          </a:prstGeom>
          <a:solidFill>
            <a:schemeClr val="bg1">
              <a:alpha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-</a:t>
            </a:r>
            <a:r>
              <a:rPr kumimoji="1" lang="en-US" altLang="ja-JP" dirty="0" err="1">
                <a:solidFill>
                  <a:schemeClr val="tx1"/>
                </a:solidFill>
              </a:rPr>
              <a:t>cosθ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83" name="正方形/長方形 82"/>
          <p:cNvSpPr/>
          <p:nvPr/>
        </p:nvSpPr>
        <p:spPr>
          <a:xfrm>
            <a:off x="1714500" y="523875"/>
            <a:ext cx="657225" cy="238125"/>
          </a:xfrm>
          <a:prstGeom prst="rect">
            <a:avLst/>
          </a:prstGeom>
          <a:solidFill>
            <a:schemeClr val="bg1">
              <a:alpha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>
                <a:solidFill>
                  <a:schemeClr val="tx1"/>
                </a:solidFill>
              </a:rPr>
              <a:t>cosθ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86" name="角丸四角形 85"/>
          <p:cNvSpPr/>
          <p:nvPr/>
        </p:nvSpPr>
        <p:spPr>
          <a:xfrm>
            <a:off x="5534025" y="3200399"/>
            <a:ext cx="638175" cy="238125"/>
          </a:xfrm>
          <a:prstGeom prst="roundRect">
            <a:avLst>
              <a:gd name="adj" fmla="val 36667"/>
            </a:avLst>
          </a:prstGeom>
          <a:solidFill>
            <a:schemeClr val="bg1">
              <a:alpha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sinθ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87" name="角丸四角形 86"/>
          <p:cNvSpPr/>
          <p:nvPr/>
        </p:nvSpPr>
        <p:spPr>
          <a:xfrm>
            <a:off x="4352925" y="2038349"/>
            <a:ext cx="638175" cy="238125"/>
          </a:xfrm>
          <a:prstGeom prst="roundRect">
            <a:avLst>
              <a:gd name="adj" fmla="val 36667"/>
            </a:avLst>
          </a:prstGeom>
          <a:solidFill>
            <a:schemeClr val="bg1">
              <a:alpha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sinθ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88" name="正方形/長方形 87"/>
          <p:cNvSpPr/>
          <p:nvPr/>
        </p:nvSpPr>
        <p:spPr>
          <a:xfrm>
            <a:off x="4314825" y="1171575"/>
            <a:ext cx="657225" cy="238125"/>
          </a:xfrm>
          <a:prstGeom prst="rect">
            <a:avLst/>
          </a:prstGeom>
          <a:solidFill>
            <a:schemeClr val="bg1">
              <a:alpha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>
                <a:solidFill>
                  <a:schemeClr val="tx1"/>
                </a:solidFill>
              </a:rPr>
              <a:t>cosθ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89" name="角丸四角形 88"/>
          <p:cNvSpPr/>
          <p:nvPr/>
        </p:nvSpPr>
        <p:spPr>
          <a:xfrm>
            <a:off x="3181351" y="3200399"/>
            <a:ext cx="714374" cy="238125"/>
          </a:xfrm>
          <a:prstGeom prst="roundRect">
            <a:avLst>
              <a:gd name="adj" fmla="val 36667"/>
            </a:avLst>
          </a:prstGeom>
          <a:solidFill>
            <a:schemeClr val="bg1">
              <a:alpha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-</a:t>
            </a:r>
            <a:r>
              <a:rPr lang="en-US" altLang="ja-JP" dirty="0" err="1">
                <a:solidFill>
                  <a:schemeClr val="tx1"/>
                </a:solidFill>
              </a:rPr>
              <a:t>sinθ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90" name="角丸四角形 89"/>
          <p:cNvSpPr/>
          <p:nvPr/>
        </p:nvSpPr>
        <p:spPr>
          <a:xfrm>
            <a:off x="4286251" y="4362449"/>
            <a:ext cx="714374" cy="238125"/>
          </a:xfrm>
          <a:prstGeom prst="roundRect">
            <a:avLst>
              <a:gd name="adj" fmla="val 36667"/>
            </a:avLst>
          </a:prstGeom>
          <a:solidFill>
            <a:schemeClr val="bg1">
              <a:alpha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-</a:t>
            </a:r>
            <a:r>
              <a:rPr lang="en-US" altLang="ja-JP" dirty="0" err="1">
                <a:solidFill>
                  <a:schemeClr val="tx1"/>
                </a:solidFill>
              </a:rPr>
              <a:t>sinθ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91" name="正方形/長方形 90"/>
          <p:cNvSpPr/>
          <p:nvPr/>
        </p:nvSpPr>
        <p:spPr>
          <a:xfrm>
            <a:off x="4324350" y="5219700"/>
            <a:ext cx="685800" cy="238125"/>
          </a:xfrm>
          <a:prstGeom prst="rect">
            <a:avLst/>
          </a:prstGeom>
          <a:solidFill>
            <a:schemeClr val="bg1">
              <a:alpha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-</a:t>
            </a:r>
            <a:r>
              <a:rPr kumimoji="1" lang="en-US" altLang="ja-JP" dirty="0" err="1">
                <a:solidFill>
                  <a:schemeClr val="tx1"/>
                </a:solidFill>
              </a:rPr>
              <a:t>cosθ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92" name="テキスト ボックス 91"/>
          <p:cNvSpPr txBox="1"/>
          <p:nvPr/>
        </p:nvSpPr>
        <p:spPr>
          <a:xfrm>
            <a:off x="514350" y="466725"/>
            <a:ext cx="24352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              、              は、</a:t>
            </a:r>
            <a:endParaRPr kumimoji="1" lang="en-US" altLang="ja-JP" dirty="0"/>
          </a:p>
          <a:p>
            <a:r>
              <a:rPr lang="ja-JP" altLang="en-US" dirty="0"/>
              <a:t>       </a:t>
            </a:r>
            <a:r>
              <a:rPr kumimoji="1" lang="ja-JP" altLang="en-US" dirty="0"/>
              <a:t>それぞれ</a:t>
            </a:r>
            <a:r>
              <a:rPr lang="ja-JP" altLang="en-US" dirty="0"/>
              <a:t>同じ長さ。</a:t>
            </a: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テキスト ボックス 92"/>
              <p:cNvSpPr txBox="1"/>
              <p:nvPr/>
            </p:nvSpPr>
            <p:spPr>
              <a:xfrm>
                <a:off x="5753100" y="352425"/>
                <a:ext cx="3371850" cy="712631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  <a:prstDash val="sysDash"/>
              </a:ln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dirty="0"/>
                  <a:t>例： </a:t>
                </a:r>
                <a:r>
                  <a:rPr lang="en-US" altLang="ja-JP" dirty="0"/>
                  <a:t>sin(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altLang="ja-JP" i="1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box>
                  </m:oMath>
                </a14:m>
                <a:r>
                  <a:rPr lang="en-US" altLang="ja-JP" dirty="0"/>
                  <a:t>π-θ) = </a:t>
                </a:r>
                <a:r>
                  <a:rPr lang="en-US" altLang="ja-JP" dirty="0" err="1"/>
                  <a:t>cosθ</a:t>
                </a:r>
                <a:r>
                  <a:rPr kumimoji="1" lang="en-US" altLang="ja-JP" dirty="0"/>
                  <a:t>, </a:t>
                </a:r>
              </a:p>
              <a:p>
                <a:r>
                  <a:rPr lang="en-US" altLang="ja-JP" dirty="0"/>
                  <a:t>      </a:t>
                </a:r>
                <a:r>
                  <a:rPr lang="ja-JP" altLang="en-US" dirty="0"/>
                  <a:t>  </a:t>
                </a:r>
                <a:r>
                  <a:rPr kumimoji="1" lang="en-US" altLang="ja-JP" dirty="0"/>
                  <a:t>cos</a:t>
                </a:r>
                <a:r>
                  <a:rPr lang="en-US" altLang="ja-JP" dirty="0"/>
                  <a:t>(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altLang="ja-JP" i="1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box>
                  </m:oMath>
                </a14:m>
                <a:r>
                  <a:rPr lang="en-US" altLang="ja-JP" dirty="0"/>
                  <a:t>π-θ)</a:t>
                </a:r>
                <a:r>
                  <a:rPr kumimoji="1" lang="ja-JP" altLang="en-US" dirty="0"/>
                  <a:t> </a:t>
                </a:r>
                <a:r>
                  <a:rPr kumimoji="1" lang="en-US" altLang="ja-JP" dirty="0"/>
                  <a:t>= </a:t>
                </a:r>
                <a:r>
                  <a:rPr kumimoji="1" lang="en-US" altLang="ja-JP" dirty="0" err="1"/>
                  <a:t>sin</a:t>
                </a:r>
                <a:r>
                  <a:rPr lang="en-US" altLang="ja-JP" dirty="0" err="1"/>
                  <a:t>θ</a:t>
                </a:r>
                <a:r>
                  <a:rPr lang="en-US" altLang="ja-JP" dirty="0"/>
                  <a:t> </a:t>
                </a:r>
                <a:r>
                  <a:rPr lang="ja-JP" altLang="en-US" dirty="0"/>
                  <a:t>を意味する。</a:t>
                </a:r>
                <a:endParaRPr kumimoji="1" lang="en-US" altLang="ja-JP" dirty="0"/>
              </a:p>
            </p:txBody>
          </p:sp>
        </mc:Choice>
        <mc:Fallback xmlns="">
          <p:sp>
            <p:nvSpPr>
              <p:cNvPr id="93" name="テキスト ボックス 9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3100" y="352425"/>
                <a:ext cx="3371850" cy="712631"/>
              </a:xfrm>
              <a:prstGeom prst="rect">
                <a:avLst/>
              </a:prstGeom>
              <a:blipFill>
                <a:blip r:embed="rId10"/>
                <a:stretch>
                  <a:fillRect l="-1439" t="-5833" r="-180" b="-8333"/>
                </a:stretch>
              </a:blipFill>
              <a:ln w="15875">
                <a:solidFill>
                  <a:schemeClr val="tx1"/>
                </a:solidFill>
                <a:prstDash val="sysDash"/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曲線コネクタ 101"/>
          <p:cNvCxnSpPr/>
          <p:nvPr/>
        </p:nvCxnSpPr>
        <p:spPr>
          <a:xfrm rot="16200000" flipH="1">
            <a:off x="5586413" y="1185861"/>
            <a:ext cx="400049" cy="47625"/>
          </a:xfrm>
          <a:prstGeom prst="curved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063A22F-5257-681A-3DB1-94503A83F5FA}"/>
              </a:ext>
            </a:extLst>
          </p:cNvPr>
          <p:cNvSpPr txBox="1"/>
          <p:nvPr/>
        </p:nvSpPr>
        <p:spPr>
          <a:xfrm>
            <a:off x="431800" y="279400"/>
            <a:ext cx="8255000" cy="441146"/>
          </a:xfrm>
          <a:prstGeom prst="rect">
            <a:avLst/>
          </a:prstGeom>
          <a:noFill/>
        </p:spPr>
        <p:txBody>
          <a:bodyPr vert="horz" lIns="76200" tIns="50800" rIns="76200" bIns="50800" rtlCol="0">
            <a:spAutoFit/>
          </a:bodyPr>
          <a:lstStyle/>
          <a:p>
            <a:r>
              <a:rPr kumimoji="1" lang="ja-JP" altLang="en-US" sz="2200" b="1" dirty="0">
                <a:solidFill>
                  <a:srgbClr val="141414"/>
                </a:solidFill>
                <a:latin typeface="Yu Gothic" panose="020B0400000000000000" pitchFamily="50" charset="-128"/>
              </a:rPr>
              <a:t>三角比・三角関数の関係まとめ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6130F25-B1FB-1794-E178-E0CA4BDA7A5E}"/>
              </a:ext>
            </a:extLst>
          </p:cNvPr>
          <p:cNvSpPr txBox="1"/>
          <p:nvPr/>
        </p:nvSpPr>
        <p:spPr>
          <a:xfrm>
            <a:off x="482600" y="736600"/>
            <a:ext cx="7874000" cy="287258"/>
          </a:xfrm>
          <a:prstGeom prst="rect">
            <a:avLst/>
          </a:prstGeom>
          <a:noFill/>
        </p:spPr>
        <p:txBody>
          <a:bodyPr vert="horz" lIns="76200" tIns="50800" rIns="76200" bIns="50800" rtlCol="0">
            <a:spAutoFit/>
          </a:bodyPr>
          <a:lstStyle/>
          <a:p>
            <a:r>
              <a:rPr kumimoji="1" lang="ja-JP" altLang="en-US" sz="1200">
                <a:solidFill>
                  <a:srgbClr val="373737"/>
                </a:solidFill>
                <a:latin typeface="Yu Gothic" panose="020B0400000000000000" pitchFamily="50" charset="-128"/>
              </a:rPr>
              <a:t>色に頼らず、線の種類・番号・式で確認できるように整理しています。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A21FB48-EF59-F72B-E742-E59BA0DF5917}"/>
              </a:ext>
            </a:extLst>
          </p:cNvPr>
          <p:cNvSpPr/>
          <p:nvPr/>
        </p:nvSpPr>
        <p:spPr>
          <a:xfrm>
            <a:off x="533400" y="1371600"/>
            <a:ext cx="2413000" cy="736600"/>
          </a:xfrm>
          <a:prstGeom prst="rect">
            <a:avLst/>
          </a:prstGeom>
          <a:solidFill>
            <a:srgbClr val="F2F2F2"/>
          </a:solidFill>
          <a:ln w="13970">
            <a:solidFill>
              <a:srgbClr val="2828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76200" rtlCol="0" anchor="ctr"/>
          <a:lstStyle/>
          <a:p>
            <a:pPr algn="ctr"/>
            <a:r>
              <a:rPr kumimoji="1" lang="ja-JP" altLang="en-US" sz="1200">
                <a:solidFill>
                  <a:srgbClr val="141414"/>
                </a:solidFill>
                <a:latin typeface="Yu Gothic" panose="020B0400000000000000" pitchFamily="50" charset="-128"/>
              </a:rPr>
              <a:t>① 単位円
半径</a:t>
            </a:r>
            <a:r>
              <a:rPr kumimoji="1" lang="en-US" altLang="ja-JP" sz="1200">
                <a:solidFill>
                  <a:srgbClr val="141414"/>
                </a:solidFill>
                <a:latin typeface="Yu Gothic" panose="020B0400000000000000" pitchFamily="50" charset="-128"/>
              </a:rPr>
              <a:t>1</a:t>
            </a:r>
            <a:r>
              <a:rPr kumimoji="1" lang="ja-JP" altLang="en-US" sz="1200">
                <a:solidFill>
                  <a:srgbClr val="141414"/>
                </a:solidFill>
                <a:latin typeface="Yu Gothic" panose="020B0400000000000000" pitchFamily="50" charset="-128"/>
              </a:rPr>
              <a:t>の円上の点を考える。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F4E349D-BD8B-7534-46ED-9515508F31CF}"/>
              </a:ext>
            </a:extLst>
          </p:cNvPr>
          <p:cNvSpPr/>
          <p:nvPr/>
        </p:nvSpPr>
        <p:spPr>
          <a:xfrm>
            <a:off x="533400" y="2311400"/>
            <a:ext cx="2413000" cy="736600"/>
          </a:xfrm>
          <a:prstGeom prst="rect">
            <a:avLst/>
          </a:prstGeom>
          <a:solidFill>
            <a:srgbClr val="FAFAFA"/>
          </a:solidFill>
          <a:ln w="13970">
            <a:solidFill>
              <a:srgbClr val="2828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76200" rtlCol="0" anchor="ctr"/>
          <a:lstStyle/>
          <a:p>
            <a:pPr algn="ctr"/>
            <a:r>
              <a:rPr kumimoji="1" lang="ja-JP" altLang="en-US" sz="1200">
                <a:solidFill>
                  <a:srgbClr val="141414"/>
                </a:solidFill>
                <a:latin typeface="Yu Gothic" panose="020B0400000000000000" pitchFamily="50" charset="-128"/>
              </a:rPr>
              <a:t>② 座標
横 </a:t>
            </a:r>
            <a:r>
              <a:rPr kumimoji="1" lang="en-US" altLang="ja-JP" sz="1200">
                <a:solidFill>
                  <a:srgbClr val="141414"/>
                </a:solidFill>
                <a:latin typeface="Yu Gothic" panose="020B0400000000000000" pitchFamily="50" charset="-128"/>
              </a:rPr>
              <a:t>= cos</a:t>
            </a:r>
            <a:r>
              <a:rPr kumimoji="1" lang="el-GR" altLang="ja-JP" sz="1200">
                <a:solidFill>
                  <a:srgbClr val="141414"/>
                </a:solidFill>
                <a:latin typeface="Yu Gothic" panose="020B0400000000000000" pitchFamily="50" charset="-128"/>
              </a:rPr>
              <a:t>θ</a:t>
            </a:r>
            <a:r>
              <a:rPr kumimoji="1" lang="ja-JP" altLang="el-GR" sz="1200">
                <a:solidFill>
                  <a:srgbClr val="141414"/>
                </a:solidFill>
                <a:latin typeface="Yu Gothic" panose="020B0400000000000000" pitchFamily="50" charset="-128"/>
              </a:rPr>
              <a:t>、</a:t>
            </a:r>
            <a:r>
              <a:rPr kumimoji="1" lang="ja-JP" altLang="en-US" sz="1200">
                <a:solidFill>
                  <a:srgbClr val="141414"/>
                </a:solidFill>
                <a:latin typeface="Yu Gothic" panose="020B0400000000000000" pitchFamily="50" charset="-128"/>
              </a:rPr>
              <a:t>縦 </a:t>
            </a:r>
            <a:r>
              <a:rPr kumimoji="1" lang="en-US" altLang="ja-JP" sz="1200">
                <a:solidFill>
                  <a:srgbClr val="141414"/>
                </a:solidFill>
                <a:latin typeface="Yu Gothic" panose="020B0400000000000000" pitchFamily="50" charset="-128"/>
              </a:rPr>
              <a:t>= sin</a:t>
            </a:r>
            <a:r>
              <a:rPr kumimoji="1" lang="el-GR" altLang="ja-JP" sz="1200">
                <a:solidFill>
                  <a:srgbClr val="141414"/>
                </a:solidFill>
                <a:latin typeface="Yu Gothic" panose="020B0400000000000000" pitchFamily="50" charset="-128"/>
              </a:rPr>
              <a:t>θ</a:t>
            </a:r>
            <a:r>
              <a:rPr kumimoji="1" lang="ja-JP" altLang="el-GR" sz="1200">
                <a:solidFill>
                  <a:srgbClr val="141414"/>
                </a:solidFill>
                <a:latin typeface="Yu Gothic" panose="020B0400000000000000" pitchFamily="50" charset="-128"/>
              </a:rPr>
              <a:t>。</a:t>
            </a:r>
            <a:endParaRPr kumimoji="1" lang="ja-JP" altLang="en-US" sz="1200">
              <a:solidFill>
                <a:srgbClr val="141414"/>
              </a:solidFill>
              <a:latin typeface="Yu Gothic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9E0E42F-48FC-FAB1-9DD5-D501C469C52F}"/>
              </a:ext>
            </a:extLst>
          </p:cNvPr>
          <p:cNvSpPr/>
          <p:nvPr/>
        </p:nvSpPr>
        <p:spPr>
          <a:xfrm>
            <a:off x="533400" y="3251200"/>
            <a:ext cx="2413000" cy="736600"/>
          </a:xfrm>
          <a:prstGeom prst="rect">
            <a:avLst/>
          </a:prstGeom>
          <a:solidFill>
            <a:srgbClr val="F2F2F2"/>
          </a:solidFill>
          <a:ln w="13970">
            <a:solidFill>
              <a:srgbClr val="2828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76200" rtlCol="0" anchor="ctr"/>
          <a:lstStyle/>
          <a:p>
            <a:pPr algn="ctr"/>
            <a:r>
              <a:rPr kumimoji="1" lang="en-US" altLang="ja-JP" sz="1200">
                <a:solidFill>
                  <a:srgbClr val="141414"/>
                </a:solidFill>
                <a:latin typeface="Yu Gothic" panose="020B0400000000000000" pitchFamily="50" charset="-128"/>
              </a:rPr>
              <a:t>③ tan
tan</a:t>
            </a:r>
            <a:r>
              <a:rPr kumimoji="1" lang="el-GR" altLang="ja-JP" sz="1200">
                <a:solidFill>
                  <a:srgbClr val="141414"/>
                </a:solidFill>
                <a:latin typeface="Yu Gothic" panose="020B0400000000000000" pitchFamily="50" charset="-128"/>
              </a:rPr>
              <a:t>θ = </a:t>
            </a:r>
            <a:r>
              <a:rPr kumimoji="1" lang="en-US" altLang="ja-JP" sz="1200">
                <a:solidFill>
                  <a:srgbClr val="141414"/>
                </a:solidFill>
                <a:latin typeface="Yu Gothic" panose="020B0400000000000000" pitchFamily="50" charset="-128"/>
              </a:rPr>
              <a:t>sin</a:t>
            </a:r>
            <a:r>
              <a:rPr kumimoji="1" lang="el-GR" altLang="ja-JP" sz="1200">
                <a:solidFill>
                  <a:srgbClr val="141414"/>
                </a:solidFill>
                <a:latin typeface="Yu Gothic" panose="020B0400000000000000" pitchFamily="50" charset="-128"/>
              </a:rPr>
              <a:t>θ / </a:t>
            </a:r>
            <a:r>
              <a:rPr kumimoji="1" lang="en-US" altLang="ja-JP" sz="1200">
                <a:solidFill>
                  <a:srgbClr val="141414"/>
                </a:solidFill>
                <a:latin typeface="Yu Gothic" panose="020B0400000000000000" pitchFamily="50" charset="-128"/>
              </a:rPr>
              <a:t>cos</a:t>
            </a:r>
            <a:r>
              <a:rPr kumimoji="1" lang="el-GR" altLang="ja-JP" sz="1200">
                <a:solidFill>
                  <a:srgbClr val="141414"/>
                </a:solidFill>
                <a:latin typeface="Yu Gothic" panose="020B0400000000000000" pitchFamily="50" charset="-128"/>
              </a:rPr>
              <a:t>θ</a:t>
            </a:r>
            <a:r>
              <a:rPr kumimoji="1" lang="ja-JP" altLang="el-GR" sz="1200">
                <a:solidFill>
                  <a:srgbClr val="141414"/>
                </a:solidFill>
                <a:latin typeface="Yu Gothic" panose="020B0400000000000000" pitchFamily="50" charset="-128"/>
              </a:rPr>
              <a:t>。</a:t>
            </a:r>
            <a:endParaRPr kumimoji="1" lang="ja-JP" altLang="en-US" sz="1200">
              <a:solidFill>
                <a:srgbClr val="141414"/>
              </a:solidFill>
              <a:latin typeface="Yu Gothic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81EDFD6-6F11-43B6-C99E-90251EB6351B}"/>
              </a:ext>
            </a:extLst>
          </p:cNvPr>
          <p:cNvSpPr/>
          <p:nvPr/>
        </p:nvSpPr>
        <p:spPr>
          <a:xfrm>
            <a:off x="533400" y="4191000"/>
            <a:ext cx="2413000" cy="965200"/>
          </a:xfrm>
          <a:prstGeom prst="rect">
            <a:avLst/>
          </a:prstGeom>
          <a:solidFill>
            <a:srgbClr val="FAFAFA"/>
          </a:solidFill>
          <a:ln w="13970">
            <a:solidFill>
              <a:srgbClr val="2828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76200" rtlCol="0" anchor="ctr"/>
          <a:lstStyle/>
          <a:p>
            <a:pPr algn="ctr"/>
            <a:r>
              <a:rPr kumimoji="1" lang="ja-JP" altLang="en-US" sz="1100">
                <a:solidFill>
                  <a:srgbClr val="141414"/>
                </a:solidFill>
                <a:latin typeface="Yu Gothic" panose="020B0400000000000000" pitchFamily="50" charset="-128"/>
              </a:rPr>
              <a:t>注意
</a:t>
            </a:r>
            <a:r>
              <a:rPr kumimoji="1" lang="en-US" altLang="ja-JP" sz="1100">
                <a:solidFill>
                  <a:srgbClr val="141414"/>
                </a:solidFill>
                <a:latin typeface="Yu Gothic" panose="020B0400000000000000" pitchFamily="50" charset="-128"/>
              </a:rPr>
              <a:t>cosθ = 0 </a:t>
            </a:r>
            <a:r>
              <a:rPr kumimoji="1" lang="ja-JP" altLang="en-US" sz="1100">
                <a:solidFill>
                  <a:srgbClr val="141414"/>
                </a:solidFill>
                <a:latin typeface="Yu Gothic" panose="020B0400000000000000" pitchFamily="50" charset="-128"/>
              </a:rPr>
              <a:t>のとき、</a:t>
            </a:r>
            <a:r>
              <a:rPr kumimoji="1" lang="en-US" altLang="ja-JP" sz="1100">
                <a:solidFill>
                  <a:srgbClr val="141414"/>
                </a:solidFill>
                <a:latin typeface="Yu Gothic" panose="020B0400000000000000" pitchFamily="50" charset="-128"/>
              </a:rPr>
              <a:t>tanθ </a:t>
            </a:r>
            <a:r>
              <a:rPr kumimoji="1" lang="ja-JP" altLang="en-US" sz="1100">
                <a:solidFill>
                  <a:srgbClr val="141414"/>
                </a:solidFill>
                <a:latin typeface="Yu Gothic" panose="020B0400000000000000" pitchFamily="50" charset="-128"/>
              </a:rPr>
              <a:t>は未定義。つまり </a:t>
            </a:r>
            <a:r>
              <a:rPr kumimoji="1" lang="en-US" altLang="ja-JP" sz="1100">
                <a:solidFill>
                  <a:srgbClr val="141414"/>
                </a:solidFill>
                <a:latin typeface="Yu Gothic" panose="020B0400000000000000" pitchFamily="50" charset="-128"/>
              </a:rPr>
              <a:t>90°</a:t>
            </a:r>
            <a:r>
              <a:rPr kumimoji="1" lang="ja-JP" altLang="en-US" sz="1100">
                <a:solidFill>
                  <a:srgbClr val="141414"/>
                </a:solidFill>
                <a:latin typeface="Yu Gothic" panose="020B0400000000000000" pitchFamily="50" charset="-128"/>
              </a:rPr>
              <a:t>・</a:t>
            </a:r>
            <a:r>
              <a:rPr kumimoji="1" lang="en-US" altLang="ja-JP" sz="1100">
                <a:solidFill>
                  <a:srgbClr val="141414"/>
                </a:solidFill>
                <a:latin typeface="Yu Gothic" panose="020B0400000000000000" pitchFamily="50" charset="-128"/>
              </a:rPr>
              <a:t>270°</a:t>
            </a:r>
            <a:r>
              <a:rPr kumimoji="1" lang="ja-JP" altLang="en-US" sz="1100">
                <a:solidFill>
                  <a:srgbClr val="141414"/>
                </a:solidFill>
                <a:latin typeface="Yu Gothic" panose="020B0400000000000000" pitchFamily="50" charset="-128"/>
              </a:rPr>
              <a:t>。</a:t>
            </a: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3728945C-FD69-65E5-A31F-27A287BDDD91}"/>
              </a:ext>
            </a:extLst>
          </p:cNvPr>
          <p:cNvSpPr/>
          <p:nvPr/>
        </p:nvSpPr>
        <p:spPr>
          <a:xfrm>
            <a:off x="3619500" y="1587500"/>
            <a:ext cx="2794000" cy="2794000"/>
          </a:xfrm>
          <a:prstGeom prst="ellipse">
            <a:avLst/>
          </a:prstGeom>
          <a:solidFill>
            <a:schemeClr val="accent1">
              <a:alpha val="0"/>
            </a:schemeClr>
          </a:solidFill>
          <a:ln w="22860">
            <a:solidFill>
              <a:srgbClr val="14141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CC6CF077-DB6D-4F5B-12AF-8C9AE9DD6096}"/>
              </a:ext>
            </a:extLst>
          </p:cNvPr>
          <p:cNvCxnSpPr/>
          <p:nvPr/>
        </p:nvCxnSpPr>
        <p:spPr>
          <a:xfrm>
            <a:off x="3175000" y="2984500"/>
            <a:ext cx="4000500" cy="0"/>
          </a:xfrm>
          <a:prstGeom prst="line">
            <a:avLst/>
          </a:prstGeom>
          <a:ln>
            <a:solidFill>
              <a:srgbClr val="6E6E6E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E250F54-0FB1-6203-C4D2-D303159B1CE1}"/>
              </a:ext>
            </a:extLst>
          </p:cNvPr>
          <p:cNvCxnSpPr/>
          <p:nvPr/>
        </p:nvCxnSpPr>
        <p:spPr>
          <a:xfrm flipV="1">
            <a:off x="5016500" y="1168400"/>
            <a:ext cx="0" cy="3594100"/>
          </a:xfrm>
          <a:prstGeom prst="line">
            <a:avLst/>
          </a:prstGeom>
          <a:ln>
            <a:solidFill>
              <a:srgbClr val="6E6E6E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9548BDCC-5581-370D-0291-77E1C9D9A263}"/>
              </a:ext>
            </a:extLst>
          </p:cNvPr>
          <p:cNvCxnSpPr/>
          <p:nvPr/>
        </p:nvCxnSpPr>
        <p:spPr>
          <a:xfrm flipV="1">
            <a:off x="5016500" y="2006600"/>
            <a:ext cx="1181100" cy="977900"/>
          </a:xfrm>
          <a:prstGeom prst="line">
            <a:avLst/>
          </a:prstGeom>
          <a:ln w="30480">
            <a:solidFill>
              <a:srgbClr val="1414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269B9F18-4C7B-F462-3EFA-93729F20F0CD}"/>
              </a:ext>
            </a:extLst>
          </p:cNvPr>
          <p:cNvCxnSpPr/>
          <p:nvPr/>
        </p:nvCxnSpPr>
        <p:spPr>
          <a:xfrm>
            <a:off x="6197600" y="2006600"/>
            <a:ext cx="0" cy="977900"/>
          </a:xfrm>
          <a:prstGeom prst="line">
            <a:avLst/>
          </a:prstGeom>
          <a:ln w="16510">
            <a:solidFill>
              <a:srgbClr val="14141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C2F8A351-D7A1-31D7-D798-87ACB59EB1FB}"/>
              </a:ext>
            </a:extLst>
          </p:cNvPr>
          <p:cNvCxnSpPr/>
          <p:nvPr/>
        </p:nvCxnSpPr>
        <p:spPr>
          <a:xfrm>
            <a:off x="5016500" y="2984500"/>
            <a:ext cx="1181100" cy="0"/>
          </a:xfrm>
          <a:prstGeom prst="line">
            <a:avLst/>
          </a:prstGeom>
          <a:ln w="25400">
            <a:solidFill>
              <a:srgbClr val="1414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楕円 13">
            <a:extLst>
              <a:ext uri="{FF2B5EF4-FFF2-40B4-BE49-F238E27FC236}">
                <a16:creationId xmlns:a16="http://schemas.microsoft.com/office/drawing/2014/main" id="{59C5042D-0D87-DA30-2FF5-257FC6A1975C}"/>
              </a:ext>
            </a:extLst>
          </p:cNvPr>
          <p:cNvSpPr/>
          <p:nvPr/>
        </p:nvSpPr>
        <p:spPr>
          <a:xfrm>
            <a:off x="6134100" y="1943100"/>
            <a:ext cx="127000" cy="127000"/>
          </a:xfrm>
          <a:prstGeom prst="ellipse">
            <a:avLst/>
          </a:prstGeom>
          <a:solidFill>
            <a:srgbClr val="141414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6C0135C-0EB7-AC4E-E787-138779894033}"/>
              </a:ext>
            </a:extLst>
          </p:cNvPr>
          <p:cNvSpPr txBox="1"/>
          <p:nvPr/>
        </p:nvSpPr>
        <p:spPr>
          <a:xfrm>
            <a:off x="6350000" y="1854200"/>
            <a:ext cx="1397000" cy="271869"/>
          </a:xfrm>
          <a:prstGeom prst="rect">
            <a:avLst/>
          </a:prstGeom>
          <a:noFill/>
        </p:spPr>
        <p:txBody>
          <a:bodyPr vert="horz" lIns="76200" tIns="50800" rIns="76200" bIns="50800" rtlCol="0">
            <a:spAutoFit/>
          </a:bodyPr>
          <a:lstStyle/>
          <a:p>
            <a:r>
              <a:rPr kumimoji="1" lang="en-US" altLang="ja-JP" sz="1100">
                <a:solidFill>
                  <a:srgbClr val="141414"/>
                </a:solidFill>
                <a:latin typeface="Yu Gothic" panose="020B0400000000000000" pitchFamily="50" charset="-128"/>
              </a:rPr>
              <a:t>(cos</a:t>
            </a:r>
            <a:r>
              <a:rPr kumimoji="1" lang="el-GR" altLang="ja-JP" sz="1100">
                <a:solidFill>
                  <a:srgbClr val="141414"/>
                </a:solidFill>
                <a:latin typeface="Yu Gothic" panose="020B0400000000000000" pitchFamily="50" charset="-128"/>
              </a:rPr>
              <a:t>θ, </a:t>
            </a:r>
            <a:r>
              <a:rPr kumimoji="1" lang="en-US" altLang="ja-JP" sz="1100">
                <a:solidFill>
                  <a:srgbClr val="141414"/>
                </a:solidFill>
                <a:latin typeface="Yu Gothic" panose="020B0400000000000000" pitchFamily="50" charset="-128"/>
              </a:rPr>
              <a:t>sin</a:t>
            </a:r>
            <a:r>
              <a:rPr kumimoji="1" lang="el-GR" altLang="ja-JP" sz="1100">
                <a:solidFill>
                  <a:srgbClr val="141414"/>
                </a:solidFill>
                <a:latin typeface="Yu Gothic" panose="020B0400000000000000" pitchFamily="50" charset="-128"/>
              </a:rPr>
              <a:t>θ)</a:t>
            </a:r>
            <a:endParaRPr kumimoji="1" lang="ja-JP" altLang="en-US" sz="1100">
              <a:solidFill>
                <a:srgbClr val="141414"/>
              </a:solidFill>
              <a:latin typeface="Yu Gothic" panose="020B0400000000000000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D7C7459D-3E06-99F1-7534-16CD74CE5E76}"/>
              </a:ext>
            </a:extLst>
          </p:cNvPr>
          <p:cNvSpPr txBox="1"/>
          <p:nvPr/>
        </p:nvSpPr>
        <p:spPr>
          <a:xfrm>
            <a:off x="5511800" y="3035300"/>
            <a:ext cx="762000" cy="271869"/>
          </a:xfrm>
          <a:prstGeom prst="rect">
            <a:avLst/>
          </a:prstGeom>
          <a:noFill/>
        </p:spPr>
        <p:txBody>
          <a:bodyPr vert="horz" lIns="76200" tIns="50800" rIns="76200" bIns="50800" rtlCol="0">
            <a:spAutoFit/>
          </a:bodyPr>
          <a:lstStyle/>
          <a:p>
            <a:r>
              <a:rPr kumimoji="1" lang="en-US" altLang="ja-JP" sz="1100">
                <a:solidFill>
                  <a:srgbClr val="141414"/>
                </a:solidFill>
                <a:latin typeface="Yu Gothic" panose="020B0400000000000000" pitchFamily="50" charset="-128"/>
              </a:rPr>
              <a:t>cos</a:t>
            </a:r>
            <a:r>
              <a:rPr kumimoji="1" lang="el-GR" altLang="ja-JP" sz="1100">
                <a:solidFill>
                  <a:srgbClr val="141414"/>
                </a:solidFill>
                <a:latin typeface="Yu Gothic" panose="020B0400000000000000" pitchFamily="50" charset="-128"/>
              </a:rPr>
              <a:t>θ</a:t>
            </a:r>
            <a:endParaRPr kumimoji="1" lang="ja-JP" altLang="en-US" sz="1100">
              <a:solidFill>
                <a:srgbClr val="141414"/>
              </a:solidFill>
              <a:latin typeface="Yu Gothic" panose="020B04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38650B5A-3441-DE96-149F-7874E0E9EF0F}"/>
              </a:ext>
            </a:extLst>
          </p:cNvPr>
          <p:cNvSpPr txBox="1"/>
          <p:nvPr/>
        </p:nvSpPr>
        <p:spPr>
          <a:xfrm>
            <a:off x="6273800" y="2413000"/>
            <a:ext cx="698500" cy="271869"/>
          </a:xfrm>
          <a:prstGeom prst="rect">
            <a:avLst/>
          </a:prstGeom>
          <a:noFill/>
        </p:spPr>
        <p:txBody>
          <a:bodyPr vert="horz" lIns="76200" tIns="50800" rIns="76200" bIns="50800" rtlCol="0">
            <a:spAutoFit/>
          </a:bodyPr>
          <a:lstStyle/>
          <a:p>
            <a:r>
              <a:rPr kumimoji="1" lang="en-US" altLang="ja-JP" sz="1100">
                <a:solidFill>
                  <a:srgbClr val="141414"/>
                </a:solidFill>
                <a:latin typeface="Yu Gothic" panose="020B0400000000000000" pitchFamily="50" charset="-128"/>
              </a:rPr>
              <a:t>sin</a:t>
            </a:r>
            <a:r>
              <a:rPr kumimoji="1" lang="el-GR" altLang="ja-JP" sz="1100">
                <a:solidFill>
                  <a:srgbClr val="141414"/>
                </a:solidFill>
                <a:latin typeface="Yu Gothic" panose="020B0400000000000000" pitchFamily="50" charset="-128"/>
              </a:rPr>
              <a:t>θ</a:t>
            </a:r>
            <a:endParaRPr kumimoji="1" lang="ja-JP" altLang="en-US" sz="1100">
              <a:solidFill>
                <a:srgbClr val="141414"/>
              </a:solidFill>
              <a:latin typeface="Yu Gothic" panose="020B0400000000000000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D1E1207A-76AD-792B-963E-3E9D32578C61}"/>
              </a:ext>
            </a:extLst>
          </p:cNvPr>
          <p:cNvSpPr txBox="1"/>
          <p:nvPr/>
        </p:nvSpPr>
        <p:spPr>
          <a:xfrm>
            <a:off x="5245100" y="2489200"/>
            <a:ext cx="381000" cy="302647"/>
          </a:xfrm>
          <a:prstGeom prst="rect">
            <a:avLst/>
          </a:prstGeom>
          <a:noFill/>
        </p:spPr>
        <p:txBody>
          <a:bodyPr vert="horz" lIns="76200" tIns="50800" rIns="76200" bIns="50800" rtlCol="0">
            <a:spAutoFit/>
          </a:bodyPr>
          <a:lstStyle/>
          <a:p>
            <a:r>
              <a:rPr kumimoji="1" lang="el-GR" altLang="ja-JP" sz="1300">
                <a:solidFill>
                  <a:srgbClr val="141414"/>
                </a:solidFill>
                <a:latin typeface="Yu Gothic" panose="020B0400000000000000" pitchFamily="50" charset="-128"/>
              </a:rPr>
              <a:t>θ</a:t>
            </a:r>
            <a:endParaRPr kumimoji="1" lang="ja-JP" altLang="en-US" sz="1300">
              <a:solidFill>
                <a:srgbClr val="141414"/>
              </a:solidFill>
              <a:latin typeface="Yu Gothic" panose="020B0400000000000000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1B0761D-F8AD-D9AB-96A0-615516101A56}"/>
              </a:ext>
            </a:extLst>
          </p:cNvPr>
          <p:cNvSpPr txBox="1"/>
          <p:nvPr/>
        </p:nvSpPr>
        <p:spPr>
          <a:xfrm>
            <a:off x="7213600" y="2870200"/>
            <a:ext cx="482600" cy="287258"/>
          </a:xfrm>
          <a:prstGeom prst="rect">
            <a:avLst/>
          </a:prstGeom>
          <a:noFill/>
        </p:spPr>
        <p:txBody>
          <a:bodyPr vert="horz" lIns="76200" tIns="50800" rIns="76200" bIns="50800" rtlCol="0">
            <a:spAutoFit/>
          </a:bodyPr>
          <a:lstStyle/>
          <a:p>
            <a:r>
              <a:rPr kumimoji="1" lang="en-US" altLang="ja-JP" sz="1200">
                <a:solidFill>
                  <a:srgbClr val="373737"/>
                </a:solidFill>
                <a:latin typeface="Yu Gothic" panose="020B0400000000000000" pitchFamily="50" charset="-128"/>
              </a:rPr>
              <a:t>cos</a:t>
            </a:r>
            <a:endParaRPr kumimoji="1" lang="ja-JP" altLang="en-US" sz="1200">
              <a:solidFill>
                <a:srgbClr val="373737"/>
              </a:solidFill>
              <a:latin typeface="Yu Gothic" panose="020B0400000000000000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DA44178-CE87-BFAE-C4B5-9356BB60DA71}"/>
              </a:ext>
            </a:extLst>
          </p:cNvPr>
          <p:cNvSpPr txBox="1"/>
          <p:nvPr/>
        </p:nvSpPr>
        <p:spPr>
          <a:xfrm>
            <a:off x="4800600" y="889000"/>
            <a:ext cx="431800" cy="287258"/>
          </a:xfrm>
          <a:prstGeom prst="rect">
            <a:avLst/>
          </a:prstGeom>
          <a:noFill/>
        </p:spPr>
        <p:txBody>
          <a:bodyPr vert="horz" lIns="76200" tIns="50800" rIns="76200" bIns="50800" rtlCol="0">
            <a:spAutoFit/>
          </a:bodyPr>
          <a:lstStyle/>
          <a:p>
            <a:r>
              <a:rPr kumimoji="1" lang="en-US" altLang="ja-JP" sz="1200">
                <a:solidFill>
                  <a:srgbClr val="373737"/>
                </a:solidFill>
                <a:latin typeface="Yu Gothic" panose="020B0400000000000000" pitchFamily="50" charset="-128"/>
              </a:rPr>
              <a:t>sin</a:t>
            </a:r>
            <a:endParaRPr kumimoji="1" lang="ja-JP" altLang="en-US" sz="1200">
              <a:solidFill>
                <a:srgbClr val="373737"/>
              </a:solidFill>
              <a:latin typeface="Yu Gothic" panose="020B0400000000000000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FA6A2DCF-982C-196A-6F8D-CDE14B1AEA96}"/>
              </a:ext>
            </a:extLst>
          </p:cNvPr>
          <p:cNvSpPr/>
          <p:nvPr/>
        </p:nvSpPr>
        <p:spPr>
          <a:xfrm>
            <a:off x="6807200" y="1574800"/>
            <a:ext cx="1930400" cy="2235200"/>
          </a:xfrm>
          <a:prstGeom prst="rect">
            <a:avLst/>
          </a:prstGeom>
          <a:solidFill>
            <a:srgbClr val="F5F5F5"/>
          </a:solidFill>
          <a:ln w="13970">
            <a:solidFill>
              <a:srgbClr val="2828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76200" rtlCol="0" anchor="ctr"/>
          <a:lstStyle/>
          <a:p>
            <a:r>
              <a:rPr kumimoji="1" lang="ja-JP" altLang="en-US" sz="1000" b="1">
                <a:solidFill>
                  <a:srgbClr val="141414"/>
                </a:solidFill>
                <a:latin typeface="Yu Gothic" panose="020B0400000000000000" pitchFamily="50" charset="-128"/>
              </a:rPr>
              <a:t>変換の見方</a:t>
            </a:r>
            <a:r>
              <a:rPr kumimoji="1" lang="ja-JP" altLang="en-US" sz="1000">
                <a:solidFill>
                  <a:srgbClr val="141414"/>
                </a:solidFill>
                <a:latin typeface="Yu Gothic" panose="020B0400000000000000" pitchFamily="50" charset="-128"/>
              </a:rPr>
              <a:t>
</a:t>
            </a:r>
            <a:r>
              <a:rPr kumimoji="1" lang="en-US" altLang="ja-JP" sz="1000">
                <a:solidFill>
                  <a:srgbClr val="141414"/>
                </a:solidFill>
                <a:latin typeface="Yu Gothic" panose="020B0400000000000000" pitchFamily="50" charset="-128"/>
              </a:rPr>
              <a:t>90°</a:t>
            </a:r>
            <a:r>
              <a:rPr kumimoji="1" lang="ja-JP" altLang="en-US" sz="1000">
                <a:solidFill>
                  <a:srgbClr val="141414"/>
                </a:solidFill>
                <a:latin typeface="Yu Gothic" panose="020B0400000000000000" pitchFamily="50" charset="-128"/>
              </a:rPr>
              <a:t>ずれ：
</a:t>
            </a:r>
            <a:r>
              <a:rPr kumimoji="1" lang="en-US" altLang="ja-JP" sz="1000">
                <a:solidFill>
                  <a:srgbClr val="141414"/>
                </a:solidFill>
                <a:latin typeface="Yu Gothic" panose="020B0400000000000000" pitchFamily="50" charset="-128"/>
              </a:rPr>
              <a:t>sin </a:t>
            </a:r>
            <a:r>
              <a:rPr kumimoji="1" lang="ja-JP" altLang="en-US" sz="1000">
                <a:solidFill>
                  <a:srgbClr val="141414"/>
                </a:solidFill>
                <a:latin typeface="Yu Gothic" panose="020B0400000000000000" pitchFamily="50" charset="-128"/>
              </a:rPr>
              <a:t>と </a:t>
            </a:r>
            <a:r>
              <a:rPr kumimoji="1" lang="en-US" altLang="ja-JP" sz="1000">
                <a:solidFill>
                  <a:srgbClr val="141414"/>
                </a:solidFill>
                <a:latin typeface="Yu Gothic" panose="020B0400000000000000" pitchFamily="50" charset="-128"/>
              </a:rPr>
              <a:t>cos </a:t>
            </a:r>
            <a:r>
              <a:rPr kumimoji="1" lang="ja-JP" altLang="en-US" sz="1000">
                <a:solidFill>
                  <a:srgbClr val="141414"/>
                </a:solidFill>
                <a:latin typeface="Yu Gothic" panose="020B0400000000000000" pitchFamily="50" charset="-128"/>
              </a:rPr>
              <a:t>が入れ替わる。
</a:t>
            </a:r>
            <a:r>
              <a:rPr kumimoji="1" lang="en-US" altLang="ja-JP" sz="1000">
                <a:solidFill>
                  <a:srgbClr val="141414"/>
                </a:solidFill>
                <a:latin typeface="Yu Gothic" panose="020B0400000000000000" pitchFamily="50" charset="-128"/>
              </a:rPr>
              <a:t>180°</a:t>
            </a:r>
            <a:r>
              <a:rPr kumimoji="1" lang="ja-JP" altLang="en-US" sz="1000">
                <a:solidFill>
                  <a:srgbClr val="141414"/>
                </a:solidFill>
                <a:latin typeface="Yu Gothic" panose="020B0400000000000000" pitchFamily="50" charset="-128"/>
              </a:rPr>
              <a:t>ずれ：
符号だけが反転する。
</a:t>
            </a:r>
            <a:r>
              <a:rPr kumimoji="1" lang="en-US" altLang="ja-JP" sz="1000">
                <a:solidFill>
                  <a:srgbClr val="141414"/>
                </a:solidFill>
                <a:latin typeface="Yu Gothic" panose="020B0400000000000000" pitchFamily="50" charset="-128"/>
              </a:rPr>
              <a:t>360°</a:t>
            </a:r>
            <a:r>
              <a:rPr kumimoji="1" lang="ja-JP" altLang="en-US" sz="1000">
                <a:solidFill>
                  <a:srgbClr val="141414"/>
                </a:solidFill>
                <a:latin typeface="Yu Gothic" panose="020B0400000000000000" pitchFamily="50" charset="-128"/>
              </a:rPr>
              <a:t>ずれ：
元の値に戻る。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BC982EFC-915A-E4DE-DCC7-055F704B1F61}"/>
              </a:ext>
            </a:extLst>
          </p:cNvPr>
          <p:cNvSpPr/>
          <p:nvPr/>
        </p:nvSpPr>
        <p:spPr>
          <a:xfrm>
            <a:off x="2641600" y="5588000"/>
            <a:ext cx="4191000" cy="533400"/>
          </a:xfrm>
          <a:prstGeom prst="rect">
            <a:avLst/>
          </a:prstGeom>
          <a:solidFill>
            <a:srgbClr val="F2F2F2"/>
          </a:solidFill>
          <a:ln w="13970">
            <a:solidFill>
              <a:srgbClr val="2828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76200" rIns="101600" bIns="76200" rtlCol="0" anchor="ctr"/>
          <a:lstStyle/>
          <a:p>
            <a:pPr algn="ctr"/>
            <a:r>
              <a:rPr kumimoji="1" lang="ja-JP" altLang="en-US" sz="1200" b="1">
                <a:solidFill>
                  <a:srgbClr val="141414"/>
                </a:solidFill>
                <a:latin typeface="Yu Gothic" panose="020B0400000000000000" pitchFamily="50" charset="-128"/>
              </a:rPr>
              <a:t>基本式： </a:t>
            </a:r>
            <a:r>
              <a:rPr kumimoji="1" lang="en-US" altLang="ja-JP" sz="1200" b="1">
                <a:solidFill>
                  <a:srgbClr val="141414"/>
                </a:solidFill>
                <a:latin typeface="Yu Gothic" panose="020B0400000000000000" pitchFamily="50" charset="-128"/>
              </a:rPr>
              <a:t>sin²</a:t>
            </a:r>
            <a:r>
              <a:rPr kumimoji="1" lang="el-GR" altLang="ja-JP" sz="1200" b="1">
                <a:solidFill>
                  <a:srgbClr val="141414"/>
                </a:solidFill>
                <a:latin typeface="Yu Gothic" panose="020B0400000000000000" pitchFamily="50" charset="-128"/>
              </a:rPr>
              <a:t>θ + </a:t>
            </a:r>
            <a:r>
              <a:rPr kumimoji="1" lang="en-US" altLang="ja-JP" sz="1200" b="1">
                <a:solidFill>
                  <a:srgbClr val="141414"/>
                </a:solidFill>
                <a:latin typeface="Yu Gothic" panose="020B0400000000000000" pitchFamily="50" charset="-128"/>
              </a:rPr>
              <a:t>cos²</a:t>
            </a:r>
            <a:r>
              <a:rPr kumimoji="1" lang="el-GR" altLang="ja-JP" sz="1200" b="1">
                <a:solidFill>
                  <a:srgbClr val="141414"/>
                </a:solidFill>
                <a:latin typeface="Yu Gothic" panose="020B0400000000000000" pitchFamily="50" charset="-128"/>
              </a:rPr>
              <a:t>θ = 1</a:t>
            </a:r>
            <a:r>
              <a:rPr kumimoji="1" lang="ja-JP" altLang="el-GR" sz="1200" b="1">
                <a:solidFill>
                  <a:srgbClr val="141414"/>
                </a:solidFill>
                <a:latin typeface="Yu Gothic" panose="020B0400000000000000" pitchFamily="50" charset="-128"/>
              </a:rPr>
              <a:t>　　</a:t>
            </a:r>
            <a:r>
              <a:rPr kumimoji="1" lang="en-US" altLang="ja-JP" sz="1200" b="1">
                <a:solidFill>
                  <a:srgbClr val="141414"/>
                </a:solidFill>
                <a:latin typeface="Yu Gothic" panose="020B0400000000000000" pitchFamily="50" charset="-128"/>
              </a:rPr>
              <a:t>tan</a:t>
            </a:r>
            <a:r>
              <a:rPr kumimoji="1" lang="el-GR" altLang="ja-JP" sz="1200" b="1">
                <a:solidFill>
                  <a:srgbClr val="141414"/>
                </a:solidFill>
                <a:latin typeface="Yu Gothic" panose="020B0400000000000000" pitchFamily="50" charset="-128"/>
              </a:rPr>
              <a:t>θ = </a:t>
            </a:r>
            <a:r>
              <a:rPr kumimoji="1" lang="en-US" altLang="ja-JP" sz="1200" b="1">
                <a:solidFill>
                  <a:srgbClr val="141414"/>
                </a:solidFill>
                <a:latin typeface="Yu Gothic" panose="020B0400000000000000" pitchFamily="50" charset="-128"/>
              </a:rPr>
              <a:t>sin</a:t>
            </a:r>
            <a:r>
              <a:rPr kumimoji="1" lang="el-GR" altLang="ja-JP" sz="1200" b="1">
                <a:solidFill>
                  <a:srgbClr val="141414"/>
                </a:solidFill>
                <a:latin typeface="Yu Gothic" panose="020B0400000000000000" pitchFamily="50" charset="-128"/>
              </a:rPr>
              <a:t>θ / </a:t>
            </a:r>
            <a:r>
              <a:rPr kumimoji="1" lang="en-US" altLang="ja-JP" sz="1200" b="1">
                <a:solidFill>
                  <a:srgbClr val="141414"/>
                </a:solidFill>
                <a:latin typeface="Yu Gothic" panose="020B0400000000000000" pitchFamily="50" charset="-128"/>
              </a:rPr>
              <a:t>cos</a:t>
            </a:r>
            <a:r>
              <a:rPr kumimoji="1" lang="el-GR" altLang="ja-JP" sz="1200" b="1">
                <a:solidFill>
                  <a:srgbClr val="141414"/>
                </a:solidFill>
                <a:latin typeface="Yu Gothic" panose="020B0400000000000000" pitchFamily="50" charset="-128"/>
              </a:rPr>
              <a:t>θ</a:t>
            </a:r>
            <a:r>
              <a:rPr kumimoji="1" lang="ja-JP" altLang="el-GR" sz="1200" b="1">
                <a:solidFill>
                  <a:srgbClr val="141414"/>
                </a:solidFill>
                <a:latin typeface="Yu Gothic" panose="020B0400000000000000" pitchFamily="50" charset="-128"/>
              </a:rPr>
              <a:t>（</a:t>
            </a:r>
            <a:r>
              <a:rPr kumimoji="1" lang="en-US" altLang="ja-JP" sz="1200" b="1">
                <a:solidFill>
                  <a:srgbClr val="141414"/>
                </a:solidFill>
                <a:latin typeface="Yu Gothic" panose="020B0400000000000000" pitchFamily="50" charset="-128"/>
              </a:rPr>
              <a:t>cos</a:t>
            </a:r>
            <a:r>
              <a:rPr kumimoji="1" lang="el-GR" altLang="ja-JP" sz="1200" b="1">
                <a:solidFill>
                  <a:srgbClr val="141414"/>
                </a:solidFill>
                <a:latin typeface="Yu Gothic" panose="020B0400000000000000" pitchFamily="50" charset="-128"/>
              </a:rPr>
              <a:t>θ≠0</a:t>
            </a:r>
            <a:r>
              <a:rPr kumimoji="1" lang="ja-JP" altLang="el-GR" sz="1200" b="1">
                <a:solidFill>
                  <a:srgbClr val="141414"/>
                </a:solidFill>
                <a:latin typeface="Yu Gothic" panose="020B0400000000000000" pitchFamily="50" charset="-128"/>
              </a:rPr>
              <a:t>）</a:t>
            </a:r>
            <a:endParaRPr kumimoji="1" lang="ja-JP" altLang="en-US" sz="1200" b="1">
              <a:solidFill>
                <a:srgbClr val="141414"/>
              </a:solidFill>
              <a:latin typeface="Yu Gothic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341877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387</TotalTime>
  <Words>508</Words>
  <Application>Microsoft Office PowerPoint</Application>
  <PresentationFormat>画面に合わせる (4:3)</PresentationFormat>
  <Paragraphs>83</Paragraphs>
  <Slides>3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8" baseType="lpstr">
      <vt:lpstr>Yu Gothic</vt:lpstr>
      <vt:lpstr>Arial</vt:lpstr>
      <vt:lpstr>Calibri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スライド 1</dc:title>
  <dc:creator>Yasunori</dc:creator>
  <cp:lastModifiedBy>Yasunori Nakagawa</cp:lastModifiedBy>
  <cp:revision>48</cp:revision>
  <cp:lastPrinted>2024-05-09T13:43:48Z</cp:lastPrinted>
  <dcterms:created xsi:type="dcterms:W3CDTF">2016-04-16T00:21:00Z</dcterms:created>
  <dcterms:modified xsi:type="dcterms:W3CDTF">2026-05-31T13:23:47Z</dcterms:modified>
</cp:coreProperties>
</file>