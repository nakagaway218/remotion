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83421-03FE-4117-BD4D-FFF3E7F07C3B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09462-9662-4EBB-BC51-63916C0C3E9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A09462-9662-4EBB-BC51-63916C0C3E9D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4C-07B7-49A1-B06A-605A7C46FBE3}" type="datetimeFigureOut">
              <a:rPr kumimoji="1" lang="ja-JP" altLang="en-US" smtClean="0"/>
              <a:pPr/>
              <a:t>2026/5/31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E843-118F-4FD8-A04B-114A6557488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10.png"/><Relationship Id="rId4" Type="http://schemas.openxmlformats.org/officeDocument/2006/relationships/image" Target="../media/image28.png"/><Relationship Id="rId9" Type="http://schemas.openxmlformats.org/officeDocument/2006/relationships/image" Target="../media/image30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063527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345815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flipV="1">
            <a:off x="4403787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6701755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601662" y="338924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935735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079751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27" name="直線コネクタ 26"/>
          <p:cNvCxnSpPr/>
          <p:nvPr/>
        </p:nvCxnSpPr>
        <p:spPr>
          <a:xfrm rot="1800000" flipV="1">
            <a:off x="2064538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 rot="9000000" flipV="1">
            <a:off x="2069300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 rot="3600000" flipV="1">
            <a:off x="2064706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rot="7200000" flipV="1">
            <a:off x="2067371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2700000" flipV="1">
            <a:off x="2059906" y="3465033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8100000" flipV="1">
            <a:off x="2074192" y="3457891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924050"/>
                <a:ext cx="2350323" cy="422360"/>
              </a:xfrm>
              <a:prstGeom prst="rect">
                <a:avLst/>
              </a:prstGeom>
              <a:blipFill>
                <a:blip r:embed="rId3"/>
                <a:stretch>
                  <a:fillRect l="-1804" t="-9859" b="-112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/>
              <p:cNvSpPr txBox="1"/>
              <p:nvPr/>
            </p:nvSpPr>
            <p:spPr>
              <a:xfrm>
                <a:off x="4400550" y="628650"/>
                <a:ext cx="2648867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90°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/>
                  <a:t>; tan</a:t>
                </a:r>
                <a:r>
                  <a:rPr lang="el-GR" altLang="ja-JP"/>
                  <a:t>θ </a:t>
                </a:r>
                <a:r>
                  <a:rPr lang="ja-JP" altLang="en-US"/>
                  <a:t>未定義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2" name="テキスト ボックス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628650"/>
                <a:ext cx="2648867" cy="396199"/>
              </a:xfrm>
              <a:prstGeom prst="rect">
                <a:avLst/>
              </a:prstGeom>
              <a:blipFill>
                <a:blip r:embed="rId4"/>
                <a:stretch>
                  <a:fillRect l="-1835" t="-10448" r="-1147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テキスト ボックス 42"/>
          <p:cNvSpPr txBox="1"/>
          <p:nvPr/>
        </p:nvSpPr>
        <p:spPr>
          <a:xfrm>
            <a:off x="6808305" y="3095625"/>
            <a:ext cx="20846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0; </a:t>
            </a:r>
            <a:r>
              <a:rPr kumimoji="1" lang="en-US" altLang="ja-JP" dirty="0" err="1"/>
              <a:t>tanθ</a:t>
            </a:r>
            <a:r>
              <a:rPr kumimoji="1" lang="en-US" altLang="ja-JP" dirty="0"/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/>
              <p:cNvSpPr txBox="1"/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60°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4" name="テキスト ボックス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057275"/>
                <a:ext cx="2457404" cy="397481"/>
              </a:xfrm>
              <a:prstGeom prst="rect">
                <a:avLst/>
              </a:prstGeom>
              <a:blipFill>
                <a:blip r:embed="rId5"/>
                <a:stretch>
                  <a:fillRect l="-1975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/>
              <p:cNvSpPr txBox="1"/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45°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5" name="テキスト ボックス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950" y="1485900"/>
                <a:ext cx="2241704" cy="396199"/>
              </a:xfrm>
              <a:prstGeom prst="rect">
                <a:avLst/>
              </a:prstGeom>
              <a:blipFill>
                <a:blip r:embed="rId6"/>
                <a:stretch>
                  <a:fillRect l="-2162" t="-11940" r="-811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/>
              <p:cNvSpPr txBox="1"/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120°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ja-JP" dirty="0"/>
                  <a:t> 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6" name="テキスト ボックス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1007994"/>
                <a:ext cx="2721899" cy="397481"/>
              </a:xfrm>
              <a:prstGeom prst="rect">
                <a:avLst/>
              </a:prstGeom>
              <a:blipFill>
                <a:blip r:embed="rId7"/>
                <a:stretch>
                  <a:fillRect l="-1786" t="-8824" b="-16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/>
              <p:cNvSpPr txBox="1"/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135°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7" name="テキスト ボックス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2" y="1427922"/>
                <a:ext cx="2506199" cy="396199"/>
              </a:xfrm>
              <a:prstGeom prst="rect">
                <a:avLst/>
              </a:prstGeom>
              <a:blipFill>
                <a:blip r:embed="rId8"/>
                <a:stretch>
                  <a:fillRect l="-969" t="-10448" r="-1695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150°</a:t>
                </a:r>
                <a:r>
                  <a:rPr kumimoji="1" lang="ja-JP" altLang="en-US" dirty="0" err="1"/>
                  <a:t>、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47850"/>
                <a:ext cx="1584553" cy="727763"/>
              </a:xfrm>
              <a:prstGeom prst="rect">
                <a:avLst/>
              </a:prstGeom>
              <a:blipFill>
                <a:blip r:embed="rId9"/>
                <a:stretch>
                  <a:fillRect l="-2672" t="-5738" r="-2290"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テキスト ボックス 48"/>
          <p:cNvSpPr txBox="1"/>
          <p:nvPr/>
        </p:nvSpPr>
        <p:spPr>
          <a:xfrm>
            <a:off x="470175" y="2818986"/>
            <a:ext cx="15856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</a:t>
            </a:r>
            <a:r>
              <a:rPr kumimoji="1" lang="ja-JP" altLang="en-US" dirty="0"/>
              <a:t> </a:t>
            </a:r>
            <a:r>
              <a:rPr kumimoji="1" lang="en-US" altLang="ja-JP" dirty="0"/>
              <a:t>180°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π</a:t>
            </a:r>
            <a:r>
              <a:rPr lang="en-US" altLang="ja-JP" dirty="0"/>
              <a:t>; </a:t>
            </a:r>
            <a:r>
              <a:rPr lang="en-US" altLang="ja-JP" dirty="0" err="1"/>
              <a:t>tanθ</a:t>
            </a:r>
            <a:r>
              <a:rPr lang="en-US" altLang="ja-JP" dirty="0"/>
              <a:t> = 0</a:t>
            </a: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330°</a:t>
                </a:r>
                <a:r>
                  <a:rPr kumimoji="1" lang="ja-JP" altLang="en-US" dirty="0" err="1"/>
                  <a:t>、</a:t>
                </a:r>
                <a:r>
                  <a:rPr kumimoji="1" lang="en-US" altLang="ja-JP" dirty="0"/>
                  <a:t>11π/6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:r>
                  <a:rPr lang="ja-JP" altLang="en-US" dirty="0"/>
                  <a:t>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4399722"/>
                <a:ext cx="1962273" cy="699359"/>
              </a:xfrm>
              <a:prstGeom prst="rect">
                <a:avLst/>
              </a:prstGeom>
              <a:blipFill>
                <a:blip r:embed="rId10"/>
                <a:stretch>
                  <a:fillRect l="-2160" t="-6897" r="-926" b="-68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/>
              <p:cNvSpPr txBox="1"/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315°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:r>
                  <a:rPr lang="en-US" altLang="ja-JP" dirty="0"/>
                  <a:t>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1" name="テキスト ボックス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719" y="5095875"/>
                <a:ext cx="2610395" cy="396199"/>
              </a:xfrm>
              <a:prstGeom prst="rect">
                <a:avLst/>
              </a:prstGeom>
              <a:blipFill>
                <a:blip r:embed="rId11"/>
                <a:stretch>
                  <a:fillRect l="-1860" t="-11940" r="-698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/>
              <p:cNvSpPr txBox="1"/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300°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:r>
                  <a:rPr lang="ja-JP" altLang="en-US" dirty="0" err="1"/>
                  <a:t>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2" name="テキスト ボックス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495925"/>
                <a:ext cx="2774799" cy="397481"/>
              </a:xfrm>
              <a:prstGeom prst="rect">
                <a:avLst/>
              </a:prstGeom>
              <a:blipFill>
                <a:blip r:embed="rId12"/>
                <a:stretch>
                  <a:fillRect l="-1751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/>
              <p:cNvSpPr txBox="1"/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210°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</a:p>
              <a:p>
                <a:r>
                  <a:rPr lang="en-US" altLang="ja-JP" dirty="0" err="1"/>
                  <a:t>tanθ</a:t>
                </a:r>
                <a:r>
                  <a:rPr lang="en-US" altLang="ja-JP" dirty="0"/>
                  <a:t> =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ja-JP" alt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3" name="テキスト ボックス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6" y="4379844"/>
                <a:ext cx="1585655" cy="727763"/>
              </a:xfrm>
              <a:prstGeom prst="rect">
                <a:avLst/>
              </a:prstGeom>
              <a:blipFill>
                <a:blip r:embed="rId13"/>
                <a:stretch>
                  <a:fillRect l="-3053" t="-5738" r="-5344" b="-40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/>
              <p:cNvSpPr txBox="1"/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225°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1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4" name="テキスト ボックス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38" y="5105400"/>
                <a:ext cx="2464521" cy="396199"/>
              </a:xfrm>
              <a:prstGeom prst="rect">
                <a:avLst/>
              </a:prstGeom>
              <a:blipFill>
                <a:blip r:embed="rId14"/>
                <a:stretch>
                  <a:fillRect l="-1970" t="-12121" b="-1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240°</a:t>
                </a:r>
                <a:r>
                  <a:rPr kumimoji="1" lang="ja-JP" altLang="en-US" dirty="0" err="1"/>
                  <a:t>、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 dirty="0"/>
                  <a:t>; </a:t>
                </a:r>
                <a:r>
                  <a:rPr lang="en-US" altLang="ja-JP" dirty="0" err="1"/>
                  <a:t>tanθ</a:t>
                </a:r>
                <a:r>
                  <a:rPr lang="en-US" altLang="ja-JP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96" y="5514975"/>
                <a:ext cx="2627322" cy="397481"/>
              </a:xfrm>
              <a:prstGeom prst="rect">
                <a:avLst/>
              </a:prstGeom>
              <a:blipFill>
                <a:blip r:embed="rId15"/>
                <a:stretch>
                  <a:fillRect l="-1848" t="-10448" b="-179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テキスト ボックス 55"/>
              <p:cNvSpPr txBox="1"/>
              <p:nvPr/>
            </p:nvSpPr>
            <p:spPr>
              <a:xfrm>
                <a:off x="4400550" y="5895975"/>
                <a:ext cx="2818785" cy="396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θ</a:t>
                </a:r>
                <a:r>
                  <a:rPr lang="ja-JP" altLang="en-US" dirty="0"/>
                  <a:t> </a:t>
                </a:r>
                <a:r>
                  <a:rPr kumimoji="1" lang="en-US" altLang="ja-JP" dirty="0"/>
                  <a:t>=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270°</a:t>
                </a:r>
                <a:r>
                  <a:rPr kumimoji="1" lang="ja-JP" altLang="en-US" dirty="0" err="1"/>
                  <a:t>、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/>
                  <a:t>π</a:t>
                </a:r>
                <a:r>
                  <a:rPr lang="en-US" altLang="ja-JP"/>
                  <a:t>; tan</a:t>
                </a:r>
                <a:r>
                  <a:rPr lang="el-GR" altLang="ja-JP"/>
                  <a:t>θ </a:t>
                </a:r>
                <a:r>
                  <a:rPr lang="ja-JP" altLang="en-US"/>
                  <a:t>未定義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56" name="テキスト ボックス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50" y="5895975"/>
                <a:ext cx="2818785" cy="396199"/>
              </a:xfrm>
              <a:prstGeom prst="rect">
                <a:avLst/>
              </a:prstGeom>
              <a:blipFill>
                <a:blip r:embed="rId16"/>
                <a:stretch>
                  <a:fillRect l="-1724" t="-10448" r="-862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テキスト ボックス 56"/>
          <p:cNvSpPr txBox="1"/>
          <p:nvPr/>
        </p:nvSpPr>
        <p:spPr>
          <a:xfrm>
            <a:off x="8448675" y="3362325"/>
            <a:ext cx="757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cosθ</a:t>
            </a:r>
            <a:endParaRPr kumimoji="1" lang="ja-JP" altLang="en-US" sz="2400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43325" y="190500"/>
            <a:ext cx="70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sinθ</a:t>
            </a:r>
            <a:endParaRPr kumimoji="1" lang="ja-JP" altLang="en-US" sz="2400" dirty="0"/>
          </a:p>
        </p:txBody>
      </p:sp>
      <p:cxnSp>
        <p:nvCxnSpPr>
          <p:cNvPr id="60" name="直線コネクタ 59"/>
          <p:cNvCxnSpPr/>
          <p:nvPr/>
        </p:nvCxnSpPr>
        <p:spPr>
          <a:xfrm>
            <a:off x="6415089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6043613" y="1819275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>
            <a:off x="2376490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2747963" y="18288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>
            <a:off x="323850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>
            <a:off x="55721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/>
        </p:nvCxnSpPr>
        <p:spPr>
          <a:xfrm rot="5400000">
            <a:off x="4405314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/>
          <p:cNvCxnSpPr/>
          <p:nvPr/>
        </p:nvCxnSpPr>
        <p:spPr>
          <a:xfrm rot="5400000">
            <a:off x="4395789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6200000">
            <a:off x="4395788" y="17145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/>
          <p:cNvCxnSpPr/>
          <p:nvPr/>
        </p:nvCxnSpPr>
        <p:spPr>
          <a:xfrm rot="16200000">
            <a:off x="4405313" y="3467100"/>
            <a:ext cx="0" cy="32905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/>
        </p:nvCxnSpPr>
        <p:spPr>
          <a:xfrm rot="16200000">
            <a:off x="4391025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 rot="16200000">
            <a:off x="4400550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角丸四角形 78"/>
              <p:cNvSpPr/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角丸四角形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163" y="2176044"/>
                <a:ext cx="600077" cy="392962"/>
              </a:xfrm>
              <a:prstGeom prst="roundRect">
                <a:avLst/>
              </a:prstGeom>
              <a:blipFill>
                <a:blip r:embed="rId17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角丸四角形 85"/>
              <p:cNvSpPr/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角丸四角形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82" y="1666876"/>
                <a:ext cx="619458" cy="43480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角丸四角形 88"/>
              <p:cNvSpPr/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角丸四角形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74" y="1193203"/>
                <a:ext cx="619457" cy="436427"/>
              </a:xfrm>
              <a:prstGeom prst="roundRect">
                <a:avLst/>
              </a:prstGeom>
              <a:blipFill>
                <a:blip r:embed="rId19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テキスト ボックス 92"/>
          <p:cNvSpPr txBox="1"/>
          <p:nvPr/>
        </p:nvSpPr>
        <p:spPr>
          <a:xfrm>
            <a:off x="-9525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三角比一覧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6962775" y="3467100"/>
            <a:ext cx="1457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/>
              <a:t>θ</a:t>
            </a:r>
            <a:r>
              <a:rPr lang="ja-JP" altLang="en-US" dirty="0"/>
              <a:t> </a:t>
            </a:r>
            <a:r>
              <a:rPr kumimoji="1" lang="en-US" altLang="ja-JP" dirty="0"/>
              <a:t>=360°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2π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/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角丸四角形 88">
                <a:extLst>
                  <a:ext uri="{FF2B5EF4-FFF2-40B4-BE49-F238E27FC236}">
                    <a16:creationId xmlns:a16="http://schemas.microsoft.com/office/drawing/2014/main" id="{9E1E6BDA-7F14-479D-B2F4-A54DAEE67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283" y="2776967"/>
                <a:ext cx="619457" cy="436427"/>
              </a:xfrm>
              <a:prstGeom prst="roundRect">
                <a:avLst/>
              </a:prstGeom>
              <a:blipFill>
                <a:blip r:embed="rId20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/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角丸四角形 85">
                <a:extLst>
                  <a:ext uri="{FF2B5EF4-FFF2-40B4-BE49-F238E27FC236}">
                    <a16:creationId xmlns:a16="http://schemas.microsoft.com/office/drawing/2014/main" id="{6E589B72-7FA8-4AE4-81DB-F5E60265E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718" y="3539585"/>
                <a:ext cx="619458" cy="434805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/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ja-JP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角丸四角形 78">
                <a:extLst>
                  <a:ext uri="{FF2B5EF4-FFF2-40B4-BE49-F238E27FC236}">
                    <a16:creationId xmlns:a16="http://schemas.microsoft.com/office/drawing/2014/main" id="{17DF9E45-5481-4DCA-842D-F77DC83F0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253" y="2985227"/>
                <a:ext cx="600077" cy="392962"/>
              </a:xfrm>
              <a:prstGeom prst="roundRect">
                <a:avLst/>
              </a:prstGeom>
              <a:blipFill>
                <a:blip r:embed="rId22"/>
                <a:stretch>
                  <a:fillRect b="-29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/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角丸四角形 78">
                <a:extLst>
                  <a:ext uri="{FF2B5EF4-FFF2-40B4-BE49-F238E27FC236}">
                    <a16:creationId xmlns:a16="http://schemas.microsoft.com/office/drawing/2014/main" id="{1D8112B3-A3C5-4515-BFFB-113288CA0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421" y="3462483"/>
                <a:ext cx="600077" cy="392962"/>
              </a:xfrm>
              <a:prstGeom prst="roundRect">
                <a:avLst/>
              </a:prstGeom>
              <a:blipFill>
                <a:blip r:embed="rId23"/>
                <a:stretch>
                  <a:fillRect t="-10448" b="-104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/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角丸四角形 85">
                <a:extLst>
                  <a:ext uri="{FF2B5EF4-FFF2-40B4-BE49-F238E27FC236}">
                    <a16:creationId xmlns:a16="http://schemas.microsoft.com/office/drawing/2014/main" id="{6674F00D-0C2A-47C7-86CB-FAF9B3C98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892" y="2810114"/>
                <a:ext cx="619458" cy="538474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/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角丸四角形 88">
                <a:extLst>
                  <a:ext uri="{FF2B5EF4-FFF2-40B4-BE49-F238E27FC236}">
                    <a16:creationId xmlns:a16="http://schemas.microsoft.com/office/drawing/2014/main" id="{3668E23C-1FFA-4B0B-9DDC-58A72778D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095" y="3502566"/>
                <a:ext cx="631961" cy="436427"/>
              </a:xfrm>
              <a:prstGeom prst="roundRect">
                <a:avLst/>
              </a:prstGeom>
              <a:blipFill>
                <a:blip r:embed="rId25"/>
                <a:stretch>
                  <a:fillRect b="-405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/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角丸四角形 78">
                <a:extLst>
                  <a:ext uri="{FF2B5EF4-FFF2-40B4-BE49-F238E27FC236}">
                    <a16:creationId xmlns:a16="http://schemas.microsoft.com/office/drawing/2014/main" id="{BD5AEDA3-44AC-4759-9F44-149676123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10" y="4359999"/>
                <a:ext cx="600077" cy="392962"/>
              </a:xfrm>
              <a:prstGeom prst="roundRect">
                <a:avLst/>
              </a:prstGeom>
              <a:blipFill>
                <a:blip r:embed="rId26"/>
                <a:stretch>
                  <a:fillRect t="-10294" b="-88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/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ja-JP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角丸四角形 85">
                <a:extLst>
                  <a:ext uri="{FF2B5EF4-FFF2-40B4-BE49-F238E27FC236}">
                    <a16:creationId xmlns:a16="http://schemas.microsoft.com/office/drawing/2014/main" id="{BA1FBF25-C518-4E7D-8726-9C8872E74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41" y="4781880"/>
                <a:ext cx="619458" cy="538474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/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ja-JP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r>
                            <m:rPr>
                              <m:nor/>
                            </m:rPr>
                            <a:rPr lang="ja-JP" altLang="en-US" dirty="0">
                              <a:solidFill>
                                <a:schemeClr val="tx1"/>
                              </a:solidFill>
                            </a:rPr>
                            <m:t>ｰ</m:t>
                          </m:r>
                          <m:f>
                            <m:fPr>
                              <m:ctrlPr>
                                <a:rPr kumimoji="1" lang="en-US" altLang="ja-JP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en-US" altLang="ja-JP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角丸四角形 88">
                <a:extLst>
                  <a:ext uri="{FF2B5EF4-FFF2-40B4-BE49-F238E27FC236}">
                    <a16:creationId xmlns:a16="http://schemas.microsoft.com/office/drawing/2014/main" id="{3514BB42-E970-444F-B8BF-A3474DFA8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601" y="5334082"/>
                <a:ext cx="631563" cy="436427"/>
              </a:xfrm>
              <a:prstGeom prst="roundRect">
                <a:avLst/>
              </a:prstGeom>
              <a:blipFill>
                <a:blip r:embed="rId28"/>
                <a:stretch>
                  <a:fillRect b="-266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2301652" y="1124744"/>
            <a:ext cx="4680520" cy="46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>
            <a:off x="317240" y="3465004"/>
            <a:ext cx="864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V="1">
            <a:off x="4641912" y="368660"/>
            <a:ext cx="0" cy="6120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6939880" y="338880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869604" y="342900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173860" y="5769260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 err="1"/>
              <a:t>ｰ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17876" y="72870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cxnSp>
        <p:nvCxnSpPr>
          <p:cNvPr id="11" name="直線コネクタ 10"/>
          <p:cNvCxnSpPr/>
          <p:nvPr/>
        </p:nvCxnSpPr>
        <p:spPr>
          <a:xfrm rot="1800000" flipV="1">
            <a:off x="2302663" y="3468848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 rot="9000000" flipV="1">
            <a:off x="2307425" y="3461446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 rot="3600000" flipV="1">
            <a:off x="2302831" y="3465755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rot="7200000" flipV="1">
            <a:off x="2305496" y="3458327"/>
            <a:ext cx="4680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8420100" y="3362325"/>
            <a:ext cx="59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cos</a:t>
            </a:r>
            <a:endParaRPr kumimoji="1" lang="ja-JP" altLang="en-US" sz="24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4181475" y="323850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sin</a:t>
            </a:r>
            <a:endParaRPr kumimoji="1" lang="ja-JP" altLang="en-US" sz="2400" dirty="0"/>
          </a:p>
        </p:txBody>
      </p:sp>
      <p:cxnSp>
        <p:nvCxnSpPr>
          <p:cNvPr id="35" name="直線コネクタ 34"/>
          <p:cNvCxnSpPr/>
          <p:nvPr/>
        </p:nvCxnSpPr>
        <p:spPr>
          <a:xfrm>
            <a:off x="6653214" y="2293144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>
            <a:off x="2614615" y="2300286"/>
            <a:ext cx="0" cy="23455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3476625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5810250" y="1438275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 rot="5400000">
            <a:off x="4643439" y="4302920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5400000">
            <a:off x="4633914" y="254799"/>
            <a:ext cx="0" cy="2359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 rot="16200000">
            <a:off x="4629150" y="2857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 rot="16200000">
            <a:off x="4638675" y="2609850"/>
            <a:ext cx="0" cy="40386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228600" y="190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三角比変換</a:t>
            </a: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905375" y="31908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θ</a:t>
            </a:r>
            <a:endParaRPr kumimoji="1" lang="ja-JP" altLang="en-US" dirty="0"/>
          </a:p>
        </p:txBody>
      </p:sp>
      <p:sp>
        <p:nvSpPr>
          <p:cNvPr id="64" name="円弧 63"/>
          <p:cNvSpPr/>
          <p:nvPr/>
        </p:nvSpPr>
        <p:spPr>
          <a:xfrm>
            <a:off x="4800600" y="3333750"/>
            <a:ext cx="123825" cy="257175"/>
          </a:xfrm>
          <a:prstGeom prst="arc">
            <a:avLst/>
          </a:prstGeom>
          <a:ln w="190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左矢印 64"/>
              <p:cNvSpPr/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左矢印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550" y="1933576"/>
                <a:ext cx="2270687" cy="704850"/>
              </a:xfrm>
              <a:prstGeom prst="leftArrow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左矢印 65"/>
              <p:cNvSpPr/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π-θ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左矢印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823" y="1085851"/>
                <a:ext cx="2752727" cy="704850"/>
              </a:xfrm>
              <a:prstGeom prst="leftArrow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右矢印 67"/>
              <p:cNvSpPr/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π+θ,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右矢印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75" y="1104900"/>
                <a:ext cx="2924177" cy="704850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右矢印 68"/>
              <p:cNvSpPr/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右矢印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100"/>
                <a:ext cx="2619377" cy="704850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左矢印 69"/>
              <p:cNvSpPr/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-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左矢印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6" y="4295776"/>
                <a:ext cx="2447922" cy="704850"/>
              </a:xfrm>
              <a:prstGeom prst="leftArrow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右矢印 70"/>
              <p:cNvSpPr/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dirty="0" err="1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ja-JP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右矢印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1" y="4295775"/>
                <a:ext cx="2495552" cy="704850"/>
              </a:xfrm>
              <a:prstGeom prst="rightArrow">
                <a:avLst/>
              </a:prstGeom>
              <a:blipFill>
                <a:blip r:embed="rId7"/>
                <a:stretch>
                  <a:fillRect l="-72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右矢印 71"/>
              <p:cNvSpPr/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π-θ,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右矢印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43500"/>
                <a:ext cx="2924177" cy="704850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左矢印 72"/>
              <p:cNvSpPr/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solidFill>
                <a:schemeClr val="bg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角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°: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kumimoji="1"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kumimoji="1"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π+θ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傾き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 err="1">
                    <a:solidFill>
                      <a:schemeClr val="tx1"/>
                    </a:solidFill>
                  </a:rPr>
                  <a:t>ｰ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ja-JP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m:rPr>
                                <m:sty m:val="p"/>
                              </m:r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box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左矢印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5" y="5143501"/>
                <a:ext cx="3057529" cy="704850"/>
              </a:xfrm>
              <a:prstGeom prst="leftArrow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テキスト ボックス 73"/>
          <p:cNvSpPr txBox="1"/>
          <p:nvPr/>
        </p:nvSpPr>
        <p:spPr>
          <a:xfrm>
            <a:off x="7105650" y="474345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2π-θ</a:t>
            </a:r>
            <a:r>
              <a:rPr kumimoji="1" lang="ja-JP" altLang="en-US" dirty="0"/>
              <a:t>）</a:t>
            </a:r>
          </a:p>
        </p:txBody>
      </p:sp>
      <p:sp>
        <p:nvSpPr>
          <p:cNvPr id="75" name="正方形/長方形 74"/>
          <p:cNvSpPr/>
          <p:nvPr/>
        </p:nvSpPr>
        <p:spPr>
          <a:xfrm>
            <a:off x="6276975" y="3200400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6" name="角丸四角形 75"/>
          <p:cNvSpPr/>
          <p:nvPr/>
        </p:nvSpPr>
        <p:spPr>
          <a:xfrm>
            <a:off x="895350" y="523874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0" name="正方形/長方形 79"/>
          <p:cNvSpPr/>
          <p:nvPr/>
        </p:nvSpPr>
        <p:spPr>
          <a:xfrm>
            <a:off x="2371725" y="32004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1714500" y="523875"/>
            <a:ext cx="657225" cy="238125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6" name="角丸四角形 85"/>
          <p:cNvSpPr/>
          <p:nvPr/>
        </p:nvSpPr>
        <p:spPr>
          <a:xfrm>
            <a:off x="5534025" y="320039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7" name="角丸四角形 86"/>
          <p:cNvSpPr/>
          <p:nvPr/>
        </p:nvSpPr>
        <p:spPr>
          <a:xfrm>
            <a:off x="4352925" y="2038349"/>
            <a:ext cx="638175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8" name="正方形/長方形 87"/>
          <p:cNvSpPr/>
          <p:nvPr/>
        </p:nvSpPr>
        <p:spPr>
          <a:xfrm>
            <a:off x="4314825" y="1171575"/>
            <a:ext cx="657225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9" name="角丸四角形 88"/>
          <p:cNvSpPr/>
          <p:nvPr/>
        </p:nvSpPr>
        <p:spPr>
          <a:xfrm>
            <a:off x="3181351" y="320039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角丸四角形 89"/>
          <p:cNvSpPr/>
          <p:nvPr/>
        </p:nvSpPr>
        <p:spPr>
          <a:xfrm>
            <a:off x="4286251" y="4362449"/>
            <a:ext cx="714374" cy="238125"/>
          </a:xfrm>
          <a:prstGeom prst="roundRect">
            <a:avLst>
              <a:gd name="adj" fmla="val 36667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lang="en-US" altLang="ja-JP" dirty="0" err="1">
                <a:solidFill>
                  <a:schemeClr val="tx1"/>
                </a:solidFill>
              </a:rPr>
              <a:t>sinθ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1" name="正方形/長方形 90"/>
          <p:cNvSpPr/>
          <p:nvPr/>
        </p:nvSpPr>
        <p:spPr>
          <a:xfrm>
            <a:off x="4324350" y="5219700"/>
            <a:ext cx="685800" cy="238125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-</a:t>
            </a:r>
            <a:r>
              <a:rPr kumimoji="1" lang="en-US" altLang="ja-JP" dirty="0" err="1">
                <a:solidFill>
                  <a:schemeClr val="tx1"/>
                </a:solidFill>
              </a:rPr>
              <a:t>cosθ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514350" y="466725"/>
            <a:ext cx="243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             、              は、</a:t>
            </a:r>
            <a:endParaRPr kumimoji="1" lang="en-US" altLang="ja-JP" dirty="0"/>
          </a:p>
          <a:p>
            <a:r>
              <a:rPr lang="ja-JP" altLang="en-US" dirty="0"/>
              <a:t>       </a:t>
            </a:r>
            <a:r>
              <a:rPr kumimoji="1" lang="ja-JP" altLang="en-US" dirty="0"/>
              <a:t>それぞれ</a:t>
            </a:r>
            <a:r>
              <a:rPr lang="ja-JP" altLang="en-US" dirty="0"/>
              <a:t>同じ長さ。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テキスト ボックス 92"/>
              <p:cNvSpPr txBox="1"/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例： </a:t>
                </a:r>
                <a:r>
                  <a:rPr lang="en-US" altLang="ja-JP" dirty="0"/>
                  <a:t>sin(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 = </a:t>
                </a:r>
                <a:r>
                  <a:rPr lang="en-US" altLang="ja-JP" dirty="0" err="1"/>
                  <a:t>cosθ</a:t>
                </a:r>
                <a:r>
                  <a:rPr kumimoji="1" lang="en-US" altLang="ja-JP" dirty="0"/>
                  <a:t>, </a:t>
                </a:r>
              </a:p>
              <a:p>
                <a:r>
                  <a:rPr lang="en-US" altLang="ja-JP" dirty="0"/>
                  <a:t>      </a:t>
                </a:r>
                <a:r>
                  <a:rPr lang="ja-JP" altLang="en-US" dirty="0"/>
                  <a:t>  </a:t>
                </a:r>
                <a:r>
                  <a:rPr kumimoji="1" lang="en-US" altLang="ja-JP" dirty="0"/>
                  <a:t>cos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ja-JP" dirty="0"/>
                  <a:t>π-θ)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= </a:t>
                </a:r>
                <a:r>
                  <a:rPr kumimoji="1" lang="en-US" altLang="ja-JP" dirty="0" err="1"/>
                  <a:t>sin</a:t>
                </a:r>
                <a:r>
                  <a:rPr lang="en-US" altLang="ja-JP" dirty="0" err="1"/>
                  <a:t>θ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を意味する。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93" name="テキスト ボックス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352425"/>
                <a:ext cx="3371850" cy="712631"/>
              </a:xfrm>
              <a:prstGeom prst="rect">
                <a:avLst/>
              </a:prstGeom>
              <a:blipFill>
                <a:blip r:embed="rId10"/>
                <a:stretch>
                  <a:fillRect l="-1439" t="-5833" r="-180" b="-8333"/>
                </a:stretch>
              </a:blipFill>
              <a:ln w="15875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曲線コネクタ 101"/>
          <p:cNvCxnSpPr/>
          <p:nvPr/>
        </p:nvCxnSpPr>
        <p:spPr>
          <a:xfrm rot="16200000" flipH="1">
            <a:off x="5586413" y="1185861"/>
            <a:ext cx="400049" cy="4762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63A22F-5257-681A-3DB1-94503A83F5FA}"/>
              </a:ext>
            </a:extLst>
          </p:cNvPr>
          <p:cNvSpPr txBox="1"/>
          <p:nvPr/>
        </p:nvSpPr>
        <p:spPr>
          <a:xfrm>
            <a:off x="431800" y="279400"/>
            <a:ext cx="82550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ja-JP" altLang="en-US" sz="2200" b="1">
                <a:solidFill>
                  <a:srgbClr val="141414"/>
                </a:solidFill>
                <a:latin typeface="Yu Gothic" panose="020B0400000000000000" pitchFamily="50" charset="-128"/>
              </a:rPr>
              <a:t>三角比・三角関数の関係まとめ（モノクロ印刷用）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130F25-B1FB-1794-E178-E0CA4BDA7A5E}"/>
              </a:ext>
            </a:extLst>
          </p:cNvPr>
          <p:cNvSpPr txBox="1"/>
          <p:nvPr/>
        </p:nvSpPr>
        <p:spPr>
          <a:xfrm>
            <a:off x="482600" y="736600"/>
            <a:ext cx="7874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ja-JP" altLang="en-US" sz="1200">
                <a:solidFill>
                  <a:srgbClr val="373737"/>
                </a:solidFill>
                <a:latin typeface="Yu Gothic" panose="020B0400000000000000" pitchFamily="50" charset="-128"/>
              </a:rPr>
              <a:t>色に頼らず、線の種類・番号・式で確認できるように整理しています。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21FB48-EF59-F72B-E742-E59BA0DF5917}"/>
              </a:ext>
            </a:extLst>
          </p:cNvPr>
          <p:cNvSpPr/>
          <p:nvPr/>
        </p:nvSpPr>
        <p:spPr>
          <a:xfrm>
            <a:off x="533400" y="1371600"/>
            <a:ext cx="2413000" cy="7366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① 単位円
半径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の円上の点を考える。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4E349D-BD8B-7534-46ED-9515508F31CF}"/>
              </a:ext>
            </a:extLst>
          </p:cNvPr>
          <p:cNvSpPr/>
          <p:nvPr/>
        </p:nvSpPr>
        <p:spPr>
          <a:xfrm>
            <a:off x="533400" y="2311400"/>
            <a:ext cx="2413000" cy="736600"/>
          </a:xfrm>
          <a:prstGeom prst="rect">
            <a:avLst/>
          </a:prstGeom>
          <a:solidFill>
            <a:srgbClr val="FAFAFA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② 座標
横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= cos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、</a:t>
            </a:r>
            <a:r>
              <a:rPr kumimoji="1" lang="ja-JP" altLang="en-US" sz="1200">
                <a:solidFill>
                  <a:srgbClr val="141414"/>
                </a:solidFill>
                <a:latin typeface="Yu Gothic" panose="020B0400000000000000" pitchFamily="50" charset="-128"/>
              </a:rPr>
              <a:t>縦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= sin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  <a:endParaRPr kumimoji="1" lang="ja-JP" altLang="en-US" sz="12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E0E42F-48FC-FAB1-9DD5-D501C469C52F}"/>
              </a:ext>
            </a:extLst>
          </p:cNvPr>
          <p:cNvSpPr/>
          <p:nvPr/>
        </p:nvSpPr>
        <p:spPr>
          <a:xfrm>
            <a:off x="533400" y="3251200"/>
            <a:ext cx="2413000" cy="7366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③ tan
tan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 =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 / </a:t>
            </a:r>
            <a:r>
              <a:rPr kumimoji="1" lang="en-US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  <a:endParaRPr kumimoji="1" lang="ja-JP" altLang="en-US" sz="12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81EDFD6-6F11-43B6-C99E-90251EB6351B}"/>
              </a:ext>
            </a:extLst>
          </p:cNvPr>
          <p:cNvSpPr/>
          <p:nvPr/>
        </p:nvSpPr>
        <p:spPr>
          <a:xfrm>
            <a:off x="533400" y="4191000"/>
            <a:ext cx="2413000" cy="965200"/>
          </a:xfrm>
          <a:prstGeom prst="rect">
            <a:avLst/>
          </a:prstGeom>
          <a:solidFill>
            <a:srgbClr val="FAFAFA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注意
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cosθ = 0 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のとき、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tanθ 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は未定義。つまり 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90°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270°</a:t>
            </a:r>
            <a:r>
              <a:rPr kumimoji="1" lang="ja-JP" altLang="en-US" sz="1100">
                <a:solidFill>
                  <a:srgbClr val="141414"/>
                </a:solidFill>
                <a:latin typeface="Yu Gothic" panose="020B0400000000000000" pitchFamily="50" charset="-128"/>
              </a:rPr>
              <a:t>。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728945C-FD69-65E5-A31F-27A287BDDD91}"/>
              </a:ext>
            </a:extLst>
          </p:cNvPr>
          <p:cNvSpPr/>
          <p:nvPr/>
        </p:nvSpPr>
        <p:spPr>
          <a:xfrm>
            <a:off x="3619500" y="1587500"/>
            <a:ext cx="2794000" cy="2794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2860"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C6CF077-DB6D-4F5B-12AF-8C9AE9DD6096}"/>
              </a:ext>
            </a:extLst>
          </p:cNvPr>
          <p:cNvCxnSpPr/>
          <p:nvPr/>
        </p:nvCxnSpPr>
        <p:spPr>
          <a:xfrm>
            <a:off x="3175000" y="2984500"/>
            <a:ext cx="4000500" cy="0"/>
          </a:xfrm>
          <a:prstGeom prst="line">
            <a:avLst/>
          </a:prstGeom>
          <a:ln>
            <a:solidFill>
              <a:srgbClr val="6E6E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E250F54-0FB1-6203-C4D2-D303159B1CE1}"/>
              </a:ext>
            </a:extLst>
          </p:cNvPr>
          <p:cNvCxnSpPr/>
          <p:nvPr/>
        </p:nvCxnSpPr>
        <p:spPr>
          <a:xfrm flipV="1">
            <a:off x="5016500" y="1168400"/>
            <a:ext cx="0" cy="3594100"/>
          </a:xfrm>
          <a:prstGeom prst="line">
            <a:avLst/>
          </a:prstGeom>
          <a:ln>
            <a:solidFill>
              <a:srgbClr val="6E6E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548BDCC-5581-370D-0291-77E1C9D9A263}"/>
              </a:ext>
            </a:extLst>
          </p:cNvPr>
          <p:cNvCxnSpPr/>
          <p:nvPr/>
        </p:nvCxnSpPr>
        <p:spPr>
          <a:xfrm flipV="1">
            <a:off x="5016500" y="2006600"/>
            <a:ext cx="1181100" cy="977900"/>
          </a:xfrm>
          <a:prstGeom prst="line">
            <a:avLst/>
          </a:prstGeom>
          <a:ln w="3048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69B9F18-4C7B-F462-3EFA-93729F20F0CD}"/>
              </a:ext>
            </a:extLst>
          </p:cNvPr>
          <p:cNvCxnSpPr/>
          <p:nvPr/>
        </p:nvCxnSpPr>
        <p:spPr>
          <a:xfrm>
            <a:off x="6197600" y="2006600"/>
            <a:ext cx="0" cy="977900"/>
          </a:xfrm>
          <a:prstGeom prst="line">
            <a:avLst/>
          </a:prstGeom>
          <a:ln w="16510">
            <a:solidFill>
              <a:srgbClr val="1414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2F8A351-D7A1-31D7-D798-87ACB59EB1FB}"/>
              </a:ext>
            </a:extLst>
          </p:cNvPr>
          <p:cNvCxnSpPr/>
          <p:nvPr/>
        </p:nvCxnSpPr>
        <p:spPr>
          <a:xfrm>
            <a:off x="5016500" y="2984500"/>
            <a:ext cx="1181100" cy="0"/>
          </a:xfrm>
          <a:prstGeom prst="line">
            <a:avLst/>
          </a:prstGeom>
          <a:ln w="25400">
            <a:solidFill>
              <a:srgbClr val="141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59C5042D-0D87-DA30-2FF5-257FC6A1975C}"/>
              </a:ext>
            </a:extLst>
          </p:cNvPr>
          <p:cNvSpPr/>
          <p:nvPr/>
        </p:nvSpPr>
        <p:spPr>
          <a:xfrm>
            <a:off x="6134100" y="1943100"/>
            <a:ext cx="127000" cy="127000"/>
          </a:xfrm>
          <a:prstGeom prst="ellipse">
            <a:avLst/>
          </a:prstGeom>
          <a:solidFill>
            <a:srgbClr val="14141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6C0135C-0EB7-AC4E-E787-138779894033}"/>
              </a:ext>
            </a:extLst>
          </p:cNvPr>
          <p:cNvSpPr txBox="1"/>
          <p:nvPr/>
        </p:nvSpPr>
        <p:spPr>
          <a:xfrm>
            <a:off x="6350000" y="1854200"/>
            <a:ext cx="1397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(cos</a:t>
            </a:r>
            <a:r>
              <a:rPr kumimoji="1" lang="el-GR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θ, </a:t>
            </a:r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θ)</a:t>
            </a:r>
            <a:endParaRPr kumimoji="1" lang="ja-JP" altLang="en-US" sz="11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7C7459D-3E06-99F1-7534-16CD74CE5E76}"/>
              </a:ext>
            </a:extLst>
          </p:cNvPr>
          <p:cNvSpPr txBox="1"/>
          <p:nvPr/>
        </p:nvSpPr>
        <p:spPr>
          <a:xfrm>
            <a:off x="5511800" y="3035300"/>
            <a:ext cx="762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1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8650B5A-3441-DE96-149F-7874E0E9EF0F}"/>
              </a:ext>
            </a:extLst>
          </p:cNvPr>
          <p:cNvSpPr txBox="1"/>
          <p:nvPr/>
        </p:nvSpPr>
        <p:spPr>
          <a:xfrm>
            <a:off x="6273800" y="2413000"/>
            <a:ext cx="6985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1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1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1E1207A-76AD-792B-963E-3E9D32578C61}"/>
              </a:ext>
            </a:extLst>
          </p:cNvPr>
          <p:cNvSpPr txBox="1"/>
          <p:nvPr/>
        </p:nvSpPr>
        <p:spPr>
          <a:xfrm>
            <a:off x="5245100" y="2489200"/>
            <a:ext cx="381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l-GR" altLang="ja-JP" sz="1300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endParaRPr kumimoji="1" lang="ja-JP" altLang="en-US" sz="1300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B0761D-F8AD-D9AB-96A0-615516101A56}"/>
              </a:ext>
            </a:extLst>
          </p:cNvPr>
          <p:cNvSpPr txBox="1"/>
          <p:nvPr/>
        </p:nvSpPr>
        <p:spPr>
          <a:xfrm>
            <a:off x="7213600" y="2870200"/>
            <a:ext cx="4826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200">
                <a:solidFill>
                  <a:srgbClr val="373737"/>
                </a:solidFill>
                <a:latin typeface="Yu Gothic" panose="020B0400000000000000" pitchFamily="50" charset="-128"/>
              </a:rPr>
              <a:t>cos</a:t>
            </a:r>
            <a:endParaRPr kumimoji="1" lang="ja-JP" altLang="en-US" sz="1200">
              <a:solidFill>
                <a:srgbClr val="373737"/>
              </a:solidFill>
              <a:latin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DA44178-CE87-BFAE-C4B5-9356BB60DA71}"/>
              </a:ext>
            </a:extLst>
          </p:cNvPr>
          <p:cNvSpPr txBox="1"/>
          <p:nvPr/>
        </p:nvSpPr>
        <p:spPr>
          <a:xfrm>
            <a:off x="4800600" y="889000"/>
            <a:ext cx="4318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kumimoji="1" lang="en-US" altLang="ja-JP" sz="1200">
                <a:solidFill>
                  <a:srgbClr val="373737"/>
                </a:solidFill>
                <a:latin typeface="Yu Gothic" panose="020B0400000000000000" pitchFamily="50" charset="-128"/>
              </a:rPr>
              <a:t>sin</a:t>
            </a:r>
            <a:endParaRPr kumimoji="1" lang="ja-JP" altLang="en-US" sz="1200">
              <a:solidFill>
                <a:srgbClr val="373737"/>
              </a:solidFill>
              <a:latin typeface="Yu Gothic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A6A2DCF-982C-196A-6F8D-CDE14B1AEA96}"/>
              </a:ext>
            </a:extLst>
          </p:cNvPr>
          <p:cNvSpPr/>
          <p:nvPr/>
        </p:nvSpPr>
        <p:spPr>
          <a:xfrm>
            <a:off x="6807200" y="1574800"/>
            <a:ext cx="1930400" cy="2235200"/>
          </a:xfrm>
          <a:prstGeom prst="rect">
            <a:avLst/>
          </a:prstGeom>
          <a:solidFill>
            <a:srgbClr val="F5F5F5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kumimoji="1" lang="ja-JP" altLang="en-US" sz="1000" b="1">
                <a:solidFill>
                  <a:srgbClr val="141414"/>
                </a:solidFill>
                <a:latin typeface="Yu Gothic" panose="020B0400000000000000" pitchFamily="50" charset="-128"/>
              </a:rPr>
              <a:t>変換の見方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90°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sin 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と 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cos 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が入れ替わる。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180°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符号だけが反転する。
</a:t>
            </a:r>
            <a:r>
              <a:rPr kumimoji="1" lang="en-US" altLang="ja-JP" sz="1000">
                <a:solidFill>
                  <a:srgbClr val="141414"/>
                </a:solidFill>
                <a:latin typeface="Yu Gothic" panose="020B0400000000000000" pitchFamily="50" charset="-128"/>
              </a:rPr>
              <a:t>360°</a:t>
            </a:r>
            <a:r>
              <a:rPr kumimoji="1" lang="ja-JP" altLang="en-US" sz="1000">
                <a:solidFill>
                  <a:srgbClr val="141414"/>
                </a:solidFill>
                <a:latin typeface="Yu Gothic" panose="020B0400000000000000" pitchFamily="50" charset="-128"/>
              </a:rPr>
              <a:t>ずれ：
元の値に戻る。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C982EFC-915A-E4DE-DCC7-055F704B1F61}"/>
              </a:ext>
            </a:extLst>
          </p:cNvPr>
          <p:cNvSpPr/>
          <p:nvPr/>
        </p:nvSpPr>
        <p:spPr>
          <a:xfrm>
            <a:off x="2641600" y="5588000"/>
            <a:ext cx="4191000" cy="533400"/>
          </a:xfrm>
          <a:prstGeom prst="rect">
            <a:avLst/>
          </a:prstGeom>
          <a:solidFill>
            <a:srgbClr val="F2F2F2"/>
          </a:solidFill>
          <a:ln w="13970">
            <a:solidFill>
              <a:srgbClr val="282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kumimoji="1" lang="ja-JP" altLang="en-US" sz="1200" b="1">
                <a:solidFill>
                  <a:srgbClr val="141414"/>
                </a:solidFill>
                <a:latin typeface="Yu Gothic" panose="020B0400000000000000" pitchFamily="50" charset="-128"/>
              </a:rPr>
              <a:t>基本式：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sin²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+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cos²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= 1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　　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tan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=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sin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 / 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（</a:t>
            </a:r>
            <a:r>
              <a:rPr kumimoji="1" lang="en-US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cos</a:t>
            </a:r>
            <a:r>
              <a:rPr kumimoji="1" lang="el-GR" altLang="ja-JP" sz="1200" b="1">
                <a:solidFill>
                  <a:srgbClr val="141414"/>
                </a:solidFill>
                <a:latin typeface="Yu Gothic" panose="020B0400000000000000" pitchFamily="50" charset="-128"/>
              </a:rPr>
              <a:t>θ≠0</a:t>
            </a:r>
            <a:r>
              <a:rPr kumimoji="1" lang="ja-JP" altLang="el-GR" sz="1200" b="1">
                <a:solidFill>
                  <a:srgbClr val="141414"/>
                </a:solidFill>
                <a:latin typeface="Yu Gothic" panose="020B0400000000000000" pitchFamily="50" charset="-128"/>
              </a:rPr>
              <a:t>）</a:t>
            </a:r>
            <a:endParaRPr kumimoji="1" lang="ja-JP" altLang="en-US" sz="1200" b="1">
              <a:solidFill>
                <a:srgbClr val="141414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4187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512</Words>
  <Application>Microsoft Office PowerPoint</Application>
  <PresentationFormat>画面に合わせる (4:3)</PresentationFormat>
  <Paragraphs>83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Yu Gothic</vt:lpstr>
      <vt:lpstr>Arial</vt:lpstr>
      <vt:lpstr>Calibri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Yasunori</dc:creator>
  <cp:lastModifiedBy>Yasunori Nakagawa</cp:lastModifiedBy>
  <cp:revision>47</cp:revision>
  <cp:lastPrinted>2024-05-09T13:43:48Z</cp:lastPrinted>
  <dcterms:created xsi:type="dcterms:W3CDTF">2016-04-16T00:21:00Z</dcterms:created>
  <dcterms:modified xsi:type="dcterms:W3CDTF">2026-05-31T13:19:46Z</dcterms:modified>
</cp:coreProperties>
</file>